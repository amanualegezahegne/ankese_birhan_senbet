
<file path=[Content_Types].xml><?xml version="1.0" encoding="utf-8"?>
<Types xmlns="http://schemas.openxmlformats.org/package/2006/content-types">
  <Default Extension="png" ContentType="image/png"/>
  <Default Extension="tmp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96" r:id="rId2"/>
    <p:sldMasterId id="2147483708" r:id="rId3"/>
    <p:sldMasterId id="2147483720" r:id="rId4"/>
  </p:sldMasterIdLst>
  <p:notesMasterIdLst>
    <p:notesMasterId r:id="rId56"/>
  </p:notesMasterIdLst>
  <p:handoutMasterIdLst>
    <p:handoutMasterId r:id="rId57"/>
  </p:handoutMasterIdLst>
  <p:sldIdLst>
    <p:sldId id="257" r:id="rId5"/>
    <p:sldId id="398" r:id="rId6"/>
    <p:sldId id="381" r:id="rId7"/>
    <p:sldId id="466" r:id="rId8"/>
    <p:sldId id="474" r:id="rId9"/>
    <p:sldId id="475" r:id="rId10"/>
    <p:sldId id="476" r:id="rId11"/>
    <p:sldId id="477" r:id="rId12"/>
    <p:sldId id="508" r:id="rId13"/>
    <p:sldId id="478" r:id="rId14"/>
    <p:sldId id="479" r:id="rId15"/>
    <p:sldId id="509" r:id="rId16"/>
    <p:sldId id="480" r:id="rId17"/>
    <p:sldId id="481" r:id="rId18"/>
    <p:sldId id="482" r:id="rId19"/>
    <p:sldId id="514" r:id="rId20"/>
    <p:sldId id="483" r:id="rId21"/>
    <p:sldId id="510" r:id="rId22"/>
    <p:sldId id="511" r:id="rId23"/>
    <p:sldId id="512" r:id="rId24"/>
    <p:sldId id="513" r:id="rId25"/>
    <p:sldId id="484" r:id="rId26"/>
    <p:sldId id="485" r:id="rId27"/>
    <p:sldId id="486" r:id="rId28"/>
    <p:sldId id="487" r:id="rId29"/>
    <p:sldId id="488" r:id="rId30"/>
    <p:sldId id="527" r:id="rId31"/>
    <p:sldId id="489" r:id="rId32"/>
    <p:sldId id="490" r:id="rId33"/>
    <p:sldId id="491" r:id="rId34"/>
    <p:sldId id="492" r:id="rId35"/>
    <p:sldId id="515" r:id="rId36"/>
    <p:sldId id="493" r:id="rId37"/>
    <p:sldId id="494" r:id="rId38"/>
    <p:sldId id="495" r:id="rId39"/>
    <p:sldId id="517" r:id="rId40"/>
    <p:sldId id="518" r:id="rId41"/>
    <p:sldId id="519" r:id="rId42"/>
    <p:sldId id="497" r:id="rId43"/>
    <p:sldId id="520" r:id="rId44"/>
    <p:sldId id="498" r:id="rId45"/>
    <p:sldId id="521" r:id="rId46"/>
    <p:sldId id="522" r:id="rId47"/>
    <p:sldId id="500" r:id="rId48"/>
    <p:sldId id="501" r:id="rId49"/>
    <p:sldId id="503" r:id="rId50"/>
    <p:sldId id="523" r:id="rId51"/>
    <p:sldId id="524" r:id="rId52"/>
    <p:sldId id="525" r:id="rId53"/>
    <p:sldId id="526" r:id="rId54"/>
    <p:sldId id="397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FFFFFF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03" autoAdjust="0"/>
    <p:restoredTop sz="94404" autoAdjust="0"/>
  </p:normalViewPr>
  <p:slideViewPr>
    <p:cSldViewPr snapToGrid="0">
      <p:cViewPr>
        <p:scale>
          <a:sx n="61" d="100"/>
          <a:sy n="61" d="100"/>
        </p:scale>
        <p:origin x="1354" y="7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6" d="100"/>
          <a:sy n="56" d="100"/>
        </p:scale>
        <p:origin x="285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handoutMaster" Target="handoutMasters/handoutMaster1.xml"/><Relationship Id="rId61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C66D5-35F2-4B2B-B66A-28018F619124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073D5-63C2-4933-B970-D96552757D4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48188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B7E8A-1102-47A1-B1C3-36AE88809383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11EAB-687D-4AE4-B775-678A923E94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1035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33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-129688" y="-111832"/>
            <a:ext cx="12188952" cy="6979920"/>
            <a:chOff x="-129688" y="-109879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-129688" y="-109879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786712" y="4545109"/>
              <a:ext cx="10566397" cy="200062"/>
              <a:chOff x="735913" y="5387077"/>
              <a:chExt cx="10566397" cy="200062"/>
            </a:xfrm>
          </p:grpSpPr>
          <p:sp>
            <p:nvSpPr>
              <p:cNvPr id="19" name="Rectangle 18" descr="Gold bar"/>
              <p:cNvSpPr>
                <a:spLocks noChangeArrowheads="1"/>
              </p:cNvSpPr>
              <p:nvPr/>
            </p:nvSpPr>
            <p:spPr bwMode="auto">
              <a:xfrm rot="16200000" flipH="1">
                <a:off x="2528412" y="3594578"/>
                <a:ext cx="200062" cy="3785060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>
                <a:reflection blurRad="6350" stA="50000" endA="300" endPos="38500" dist="50800" dir="5400000" sy="-100000" algn="bl" rotWithShape="0"/>
              </a:effectLst>
            </p:spPr>
            <p:txBody>
              <a:bodyPr wrap="none" anchor="ctr"/>
              <a:lstStyle/>
              <a:p>
                <a:pPr algn="ctr" eaLnBrk="1" hangingPunct="1"/>
                <a:endParaRPr 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Rectangle 19" descr="Orange bar"/>
              <p:cNvSpPr>
                <a:spLocks noChangeArrowheads="1"/>
              </p:cNvSpPr>
              <p:nvPr/>
            </p:nvSpPr>
            <p:spPr bwMode="auto">
              <a:xfrm rot="16200000" flipH="1">
                <a:off x="5870412" y="3961204"/>
                <a:ext cx="196717" cy="3048463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miter lim="800000"/>
                <a:headEnd/>
                <a:tailEnd/>
              </a:ln>
              <a:effectLst>
                <a:reflection blurRad="6350" stA="50000" endA="300" endPos="38500" dist="50800" dir="5400000" sy="-100000" algn="bl" rotWithShape="0"/>
              </a:effectLst>
            </p:spPr>
            <p:txBody>
              <a:bodyPr wrap="none" anchor="ctr"/>
              <a:lstStyle/>
              <a:p>
                <a:pPr algn="ctr" eaLnBrk="1" hangingPunct="1"/>
                <a:endParaRPr 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" name="Rectangle 20" descr="Slate bar"/>
              <p:cNvSpPr>
                <a:spLocks noChangeArrowheads="1"/>
              </p:cNvSpPr>
              <p:nvPr/>
            </p:nvSpPr>
            <p:spPr bwMode="auto">
              <a:xfrm rot="16200000" flipH="1">
                <a:off x="9300624" y="3582109"/>
                <a:ext cx="193374" cy="3809999"/>
              </a:xfrm>
              <a:prstGeom prst="rect">
                <a:avLst/>
              </a:prstGeom>
              <a:solidFill>
                <a:schemeClr val="accent6"/>
              </a:solidFill>
              <a:ln w="9525">
                <a:noFill/>
                <a:miter lim="800000"/>
                <a:headEnd/>
                <a:tailEnd/>
              </a:ln>
              <a:effectLst>
                <a:reflection blurRad="6350" stA="50000" endA="300" endPos="38500" dist="50800" dir="5400000" sy="-100000" algn="bl" rotWithShape="0"/>
              </a:effectLst>
            </p:spPr>
            <p:txBody>
              <a:bodyPr wrap="none" anchor="ctr"/>
              <a:lstStyle/>
              <a:p>
                <a:pPr algn="ctr" eaLnBrk="1" hangingPunct="1"/>
                <a:endParaRPr lang="en-US" sz="24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56115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97C0-FF16-4889-94A3-8EF1E947F06B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38993" y="3246431"/>
            <a:ext cx="451704" cy="3651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080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319134"/>
            <a:ext cx="10515600" cy="476638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73690"/>
            <a:ext cx="10515600" cy="925524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0" y="626491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B511227F-1E06-4251-99D1-5E134AC25485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32960" y="6264914"/>
            <a:ext cx="32156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90170" y="6264914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076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189" indent="0">
              <a:buNone/>
              <a:defRPr sz="2000"/>
            </a:lvl2pPr>
            <a:lvl3pPr marL="914377" indent="0">
              <a:buNone/>
              <a:defRPr sz="18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62262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EF090DD1-4F43-481A-AD1B-82F253D56844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BF8F2D3E-1135-4616-87D1-A1B4B29924C1}"/>
              </a:ext>
            </a:extLst>
          </p:cNvPr>
          <p:cNvSpPr txBox="1">
            <a:spLocks/>
          </p:cNvSpPr>
          <p:nvPr userDrawn="1"/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14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0032C122-74C7-4033-AFFC-375A279D913D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4B897AAD-D655-4725-81CB-6287EFB8BE99}"/>
              </a:ext>
            </a:extLst>
          </p:cNvPr>
          <p:cNvSpPr txBox="1">
            <a:spLocks/>
          </p:cNvSpPr>
          <p:nvPr userDrawn="1"/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80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5" y="2193929"/>
            <a:ext cx="5157787" cy="3978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5" y="1489075"/>
            <a:ext cx="5157787" cy="6413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9"/>
            <a:ext cx="5156200" cy="3978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74638"/>
            <a:ext cx="10515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A442C9A5-F1CA-472E-B0EB-474C4A7DCD26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xmlns="" id="{1C337F36-16A8-4612-9CF8-472ECF93F5D2}"/>
              </a:ext>
            </a:extLst>
          </p:cNvPr>
          <p:cNvSpPr txBox="1">
            <a:spLocks/>
          </p:cNvSpPr>
          <p:nvPr userDrawn="1"/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62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A4B09633-4E36-4A82-8E37-C8E986EF9FA9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D01A793B-13F4-4D00-AE8E-21ED02D4E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2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E3478735-2403-4966-B8B1-5F257F51C2F8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A3DD829E-A349-4ED4-AE50-35DB66E2CB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341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7636A1DC-D6D8-4B55-8BDA-754B6F03B176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A11E2D5D-B658-4AB9-928E-F96E99C29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59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B3270396-E3C4-4645-8BCB-405F0F3896FF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71748C34-FFD9-4EB8-A2B2-5AE2D38D3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50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7B44EBBF-DC18-4D37-84F9-3E3BC7234569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B60A1808-4B51-42DD-A7B8-355D5BD8B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29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ED97FAFE-A7DA-4492-9EB8-B41DF4255C3A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77FFD8DD-7966-4A31-A2F3-1A1DA33BC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264913"/>
            <a:ext cx="491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12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B8D67-B6B7-450E-BEF0-74668401B291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505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2BC42-1CB2-4C87-8557-EEC3E1868268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59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38BC7-157E-4BD3-9E4D-A52FA0122BC2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935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B483-7185-4B23-B226-AF8D7C65FE25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541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1813-3259-4F6E-81D9-15F0C9AC4548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453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264D1-9779-429F-97DA-89137E43BE4F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511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ACD67-EBD5-46EC-952F-E4807E233491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0366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FB1F-FD27-4606-B5E7-0214355B1681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0179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C5DB-2E4A-4CAB-B079-84D39E979EAA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131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1B1C3-2C37-40E8-98F7-24963E5E86B5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9104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C4D1-EECF-4B8E-A7F3-4327E6616B2C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9100" y="6492871"/>
            <a:ext cx="419100" cy="365125"/>
          </a:xfrm>
          <a:prstGeom prst="rect">
            <a:avLst/>
          </a:prstGeom>
        </p:spPr>
        <p:txBody>
          <a:bodyPr/>
          <a:lstStyle/>
          <a:p>
            <a:fld id="{E3692B7C-1FC4-44C5-89AF-F13946ADE3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190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-129688" y="-111832"/>
            <a:ext cx="12188952" cy="6979920"/>
            <a:chOff x="-129688" y="-109879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-129688" y="-109879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786712" y="4545109"/>
              <a:ext cx="10566397" cy="200062"/>
              <a:chOff x="735913" y="5387077"/>
              <a:chExt cx="10566397" cy="200062"/>
            </a:xfrm>
          </p:grpSpPr>
          <p:sp>
            <p:nvSpPr>
              <p:cNvPr id="19" name="Rectangle 18" descr="Gold bar"/>
              <p:cNvSpPr>
                <a:spLocks noChangeArrowheads="1"/>
              </p:cNvSpPr>
              <p:nvPr/>
            </p:nvSpPr>
            <p:spPr bwMode="auto">
              <a:xfrm rot="16200000" flipH="1">
                <a:off x="2528412" y="3594578"/>
                <a:ext cx="200062" cy="3785060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>
                <a:reflection blurRad="6350" stA="50000" endA="300" endPos="38500" dist="50800" dir="5400000" sy="-100000" algn="bl" rotWithShape="0"/>
              </a:effectLst>
            </p:spPr>
            <p:txBody>
              <a:bodyPr wrap="none" anchor="ctr"/>
              <a:lstStyle/>
              <a:p>
                <a:pPr algn="ctr" eaLnBrk="1" hangingPunct="1"/>
                <a:endParaRPr 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Rectangle 19" descr="Orange bar"/>
              <p:cNvSpPr>
                <a:spLocks noChangeArrowheads="1"/>
              </p:cNvSpPr>
              <p:nvPr/>
            </p:nvSpPr>
            <p:spPr bwMode="auto">
              <a:xfrm rot="16200000" flipH="1">
                <a:off x="5870412" y="3961204"/>
                <a:ext cx="196717" cy="3048463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miter lim="800000"/>
                <a:headEnd/>
                <a:tailEnd/>
              </a:ln>
              <a:effectLst>
                <a:reflection blurRad="6350" stA="50000" endA="300" endPos="38500" dist="50800" dir="5400000" sy="-100000" algn="bl" rotWithShape="0"/>
              </a:effectLst>
            </p:spPr>
            <p:txBody>
              <a:bodyPr wrap="none" anchor="ctr"/>
              <a:lstStyle/>
              <a:p>
                <a:pPr algn="ctr" eaLnBrk="1" hangingPunct="1"/>
                <a:endParaRPr 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" name="Rectangle 20" descr="Slate bar"/>
              <p:cNvSpPr>
                <a:spLocks noChangeArrowheads="1"/>
              </p:cNvSpPr>
              <p:nvPr/>
            </p:nvSpPr>
            <p:spPr bwMode="auto">
              <a:xfrm rot="16200000" flipH="1">
                <a:off x="9300624" y="3582109"/>
                <a:ext cx="193374" cy="3809999"/>
              </a:xfrm>
              <a:prstGeom prst="rect">
                <a:avLst/>
              </a:prstGeom>
              <a:solidFill>
                <a:schemeClr val="accent6"/>
              </a:solidFill>
              <a:ln w="9525">
                <a:noFill/>
                <a:miter lim="800000"/>
                <a:headEnd/>
                <a:tailEnd/>
              </a:ln>
              <a:effectLst>
                <a:reflection blurRad="6350" stA="50000" endA="300" endPos="38500" dist="50800" dir="5400000" sy="-100000" algn="bl" rotWithShape="0"/>
              </a:effectLst>
            </p:spPr>
            <p:txBody>
              <a:bodyPr wrap="none" anchor="ctr"/>
              <a:lstStyle/>
              <a:p>
                <a:pPr algn="ctr" eaLnBrk="1" hangingPunct="1"/>
                <a:endParaRPr lang="en-US" sz="24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56115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F7DD5-74A7-4E31-8E1A-B1BB7849F557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35660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319134"/>
            <a:ext cx="10515600" cy="476638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06963DD0-D7E2-41F2-B2FA-50141A37C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803271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04073D3-BA15-47CF-B80A-750936425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06814-BBBB-49A5-B55E-2DE2AF5EC737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322327B-3324-4C96-973C-3C974E850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3973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189" indent="0">
              <a:buNone/>
              <a:defRPr sz="2000"/>
            </a:lvl2pPr>
            <a:lvl3pPr marL="914377" indent="0">
              <a:buNone/>
              <a:defRPr sz="18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62262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8D136E6C-234F-435E-AC6C-6FEBC505F25E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034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9B9C496F-7EFD-455E-9659-C4FFDAA84BAD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09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5" y="2193929"/>
            <a:ext cx="5157787" cy="3978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5" y="1489075"/>
            <a:ext cx="5157787" cy="6413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9"/>
            <a:ext cx="5156200" cy="3978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74638"/>
            <a:ext cx="10515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B99EDFF0-94FD-480E-980E-2BF147D6B136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901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91BA36DE-C76B-4F26-8957-586541D20FED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0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2E057CBB-CF6E-4EB6-AA15-D50D89112518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54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40988CDA-34AF-44F9-89AB-B770DA060EF3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5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24907E6B-CCE9-4025-87C8-C136A07045BE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09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E71803AC-4302-462A-A761-DBF948DAE714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94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EB8620FF-548A-47EA-9B96-0FB6691D6889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506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NUL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NUL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6" y="-8"/>
            <a:ext cx="12188968" cy="6858008"/>
            <a:chOff x="-2744" y="-7"/>
            <a:chExt cx="12188968" cy="6858008"/>
          </a:xfrm>
        </p:grpSpPr>
        <p:sp>
          <p:nvSpPr>
            <p:cNvPr id="26" name="Rectangle 25"/>
            <p:cNvSpPr/>
            <p:nvPr/>
          </p:nvSpPr>
          <p:spPr>
            <a:xfrm>
              <a:off x="-2728" y="1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-2744" y="-7"/>
              <a:ext cx="695245" cy="6858008"/>
              <a:chOff x="-2744" y="-7"/>
              <a:chExt cx="695245" cy="6858008"/>
            </a:xfrm>
          </p:grpSpPr>
          <p:grpSp>
            <p:nvGrpSpPr>
              <p:cNvPr id="40" name="Group 39"/>
              <p:cNvGrpSpPr/>
              <p:nvPr/>
            </p:nvGrpSpPr>
            <p:grpSpPr>
              <a:xfrm>
                <a:off x="-2744" y="-7"/>
                <a:ext cx="250941" cy="6858000"/>
                <a:chOff x="6048440" y="-936483"/>
                <a:chExt cx="86381" cy="9144001"/>
              </a:xfrm>
            </p:grpSpPr>
            <p:sp>
              <p:nvSpPr>
                <p:cNvPr id="46" name="Rectangle 45" descr="Gold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5159055"/>
                  <a:ext cx="84749" cy="3048463"/>
                </a:xfrm>
                <a:prstGeom prst="rect">
                  <a:avLst/>
                </a:prstGeom>
                <a:solidFill>
                  <a:schemeClr val="accent6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" name="Rectangle 46" descr="Orang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2110592"/>
                  <a:ext cx="86374" cy="3048463"/>
                </a:xfrm>
                <a:prstGeom prst="rect">
                  <a:avLst/>
                </a:prstGeom>
                <a:solidFill>
                  <a:schemeClr val="accent4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" name="Rectangle 47" descr="Slat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-936483"/>
                  <a:ext cx="86381" cy="304846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" name="Group 40"/>
              <p:cNvGrpSpPr/>
              <p:nvPr/>
            </p:nvGrpSpPr>
            <p:grpSpPr>
              <a:xfrm>
                <a:off x="243467" y="1"/>
                <a:ext cx="152414" cy="6858000"/>
                <a:chOff x="5618826" y="-936473"/>
                <a:chExt cx="203006" cy="9144001"/>
              </a:xfrm>
            </p:grpSpPr>
            <p:sp>
              <p:nvSpPr>
                <p:cNvPr id="43" name="Rectangle 42" descr="Gold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5618826" y="5159065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40000"/>
                        <a:lumOff val="60000"/>
                      </a:schemeClr>
                    </a:gs>
                    <a:gs pos="100000">
                      <a:prstClr val="white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lvl="0" algn="ctr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" name="Rectangle 43" descr="Orang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5625115" y="1975127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prstClr val="white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" name="Rectangle 44" descr="Slat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5625115" y="-936473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2" name="Rectangle 41"/>
              <p:cNvSpPr/>
              <p:nvPr/>
            </p:nvSpPr>
            <p:spPr>
              <a:xfrm>
                <a:off x="646782" y="-5"/>
                <a:ext cx="45719" cy="685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800" dirty="0"/>
              </a:p>
            </p:txBody>
          </p:sp>
        </p:grpSp>
      </p:grpSp>
      <p:sp>
        <p:nvSpPr>
          <p:cNvPr id="3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AEAA3718-7C2D-458A-A1A9-56AC4B4CE856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3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xmlns="" id="{722CDAF2-62E3-452E-AE4B-18D25B5E0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90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377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7BE83-0936-4694-A68A-8E6274C2D948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68147647-4BC1-4C31-A04B-2F248BADF5FF}"/>
              </a:ext>
            </a:extLst>
          </p:cNvPr>
          <p:cNvSpPr txBox="1">
            <a:spLocks/>
          </p:cNvSpPr>
          <p:nvPr userDrawn="1"/>
        </p:nvSpPr>
        <p:spPr>
          <a:xfrm>
            <a:off x="87630" y="6264913"/>
            <a:ext cx="403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43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1" y="-7"/>
            <a:ext cx="12188963" cy="6858007"/>
            <a:chOff x="-2739" y="-6"/>
            <a:chExt cx="12188963" cy="6858007"/>
          </a:xfrm>
        </p:grpSpPr>
        <p:sp>
          <p:nvSpPr>
            <p:cNvPr id="26" name="Rectangle 25"/>
            <p:cNvSpPr/>
            <p:nvPr/>
          </p:nvSpPr>
          <p:spPr>
            <a:xfrm>
              <a:off x="-2728" y="1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-2739" y="-6"/>
              <a:ext cx="695240" cy="6858001"/>
              <a:chOff x="-2739" y="-6"/>
              <a:chExt cx="695240" cy="6858001"/>
            </a:xfrm>
          </p:grpSpPr>
          <p:grpSp>
            <p:nvGrpSpPr>
              <p:cNvPr id="40" name="Group 39"/>
              <p:cNvGrpSpPr/>
              <p:nvPr/>
            </p:nvGrpSpPr>
            <p:grpSpPr>
              <a:xfrm>
                <a:off x="-2739" y="-6"/>
                <a:ext cx="271779" cy="6858000"/>
                <a:chOff x="6048440" y="-936482"/>
                <a:chExt cx="93554" cy="9144001"/>
              </a:xfrm>
            </p:grpSpPr>
            <p:sp>
              <p:nvSpPr>
                <p:cNvPr id="46" name="Rectangle 45" descr="Gold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5159056"/>
                  <a:ext cx="91928" cy="3048463"/>
                </a:xfrm>
                <a:prstGeom prst="rect">
                  <a:avLst/>
                </a:prstGeom>
                <a:solidFill>
                  <a:schemeClr val="accent6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" name="Rectangle 46" descr="Orang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2110593"/>
                  <a:ext cx="91928" cy="3048463"/>
                </a:xfrm>
                <a:prstGeom prst="rect">
                  <a:avLst/>
                </a:prstGeom>
                <a:solidFill>
                  <a:schemeClr val="accent4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" name="Rectangle 47" descr="Slat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-936482"/>
                  <a:ext cx="93554" cy="304846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" name="Group 40"/>
              <p:cNvGrpSpPr/>
              <p:nvPr/>
            </p:nvGrpSpPr>
            <p:grpSpPr>
              <a:xfrm>
                <a:off x="261967" y="1"/>
                <a:ext cx="158713" cy="6856933"/>
                <a:chOff x="5643470" y="-936473"/>
                <a:chExt cx="211396" cy="9142578"/>
              </a:xfrm>
            </p:grpSpPr>
            <p:sp>
              <p:nvSpPr>
                <p:cNvPr id="43" name="Rectangle 42" descr="Gold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5643470" y="5157642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40000"/>
                        <a:lumOff val="60000"/>
                      </a:schemeClr>
                    </a:gs>
                    <a:gs pos="100000">
                      <a:prstClr val="white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lvl="0" algn="ctr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" name="Rectangle 43" descr="Orang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5658149" y="2110585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prstClr val="white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" name="Rectangle 44" descr="Slat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5646629" y="-936473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2" name="Rectangle 41"/>
              <p:cNvSpPr/>
              <p:nvPr/>
            </p:nvSpPr>
            <p:spPr>
              <a:xfrm>
                <a:off x="646782" y="-5"/>
                <a:ext cx="45719" cy="685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800" dirty="0"/>
              </a:p>
            </p:txBody>
          </p:sp>
        </p:grpSp>
      </p:grpSp>
      <p:sp>
        <p:nvSpPr>
          <p:cNvPr id="3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BFC74F3D-D754-4866-A578-45F3E116C363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3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xmlns="" id="{95D0B3CD-CEE8-4399-AE00-4233944E0F24}"/>
              </a:ext>
            </a:extLst>
          </p:cNvPr>
          <p:cNvSpPr txBox="1">
            <a:spLocks/>
          </p:cNvSpPr>
          <p:nvPr userDrawn="1"/>
        </p:nvSpPr>
        <p:spPr>
          <a:xfrm>
            <a:off x="-197530" y="6309249"/>
            <a:ext cx="5126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871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377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api/system.array?view=net-10.0" TargetMode="Externa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api/system.array?view=net-10.0" TargetMode="Externa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ironpdf.com/blog/net-help/csharp-list/" TargetMode="External"/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@orjimicheal.c/understanding-assembly-vs-namespaces-in-programming-when-exploring-programming-languages-its-d744d3b47e3e" TargetMode="External"/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 txBox="1">
            <a:spLocks/>
          </p:cNvSpPr>
          <p:nvPr/>
        </p:nvSpPr>
        <p:spPr>
          <a:xfrm>
            <a:off x="733256" y="5234190"/>
            <a:ext cx="9144000" cy="1183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00" b="1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847941" y="4372677"/>
            <a:ext cx="10701566" cy="1143000"/>
          </a:xfrm>
        </p:spPr>
        <p:txBody>
          <a:bodyPr>
            <a:noAutofit/>
          </a:bodyPr>
          <a:lstStyle/>
          <a:p>
            <a:endParaRPr lang="en-US" sz="3200" cap="none" dirty="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</a:endParaRPr>
          </a:p>
          <a:p>
            <a:r>
              <a:rPr lang="en-US" sz="2000" cap="none" dirty="0">
                <a:solidFill>
                  <a:srgbClr val="002060"/>
                </a:solidFill>
                <a:latin typeface="Arial Narrow" panose="020B0606020202030204" pitchFamily="34" charset="0"/>
              </a:rPr>
              <a:t>By </a:t>
            </a:r>
            <a:r>
              <a:rPr lang="en-US" sz="2000" cap="none" dirty="0" smtClean="0">
                <a:solidFill>
                  <a:srgbClr val="002060"/>
                </a:solidFill>
                <a:latin typeface="Arial Narrow" panose="020B0606020202030204" pitchFamily="34" charset="0"/>
              </a:rPr>
              <a:t>Binyam T.</a:t>
            </a:r>
            <a:endParaRPr lang="en-US" sz="1600" cap="none" dirty="0">
              <a:solidFill>
                <a:srgbClr val="002060"/>
              </a:solidFill>
              <a:latin typeface="Arial Narrow" panose="020B0606020202030204" pitchFamily="34" charset="0"/>
            </a:endParaRPr>
          </a:p>
          <a:p>
            <a:endParaRPr lang="en-US" sz="1600" cap="none" dirty="0">
              <a:latin typeface="Arial Narrow" panose="020B0606020202030204" pitchFamily="34" charset="0"/>
            </a:endParaRPr>
          </a:p>
          <a:p>
            <a:pPr algn="ctr"/>
            <a:fld id="{9C2CC0C4-D4A0-4E11-BDF5-84F5ED1C715B}" type="datetime4">
              <a:rPr lang="en-US" sz="1600" cap="none" smtClean="0">
                <a:solidFill>
                  <a:srgbClr val="002060"/>
                </a:solidFill>
                <a:latin typeface="Arial Narrow" panose="020B0606020202030204" pitchFamily="34" charset="0"/>
              </a:rPr>
              <a:t>March 23, 2026</a:t>
            </a:fld>
            <a:endParaRPr lang="en-US" sz="1600" cap="none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51146ABF-E59A-4B7C-85E7-1B94D902000E}"/>
              </a:ext>
            </a:extLst>
          </p:cNvPr>
          <p:cNvSpPr txBox="1">
            <a:spLocks/>
          </p:cNvSpPr>
          <p:nvPr/>
        </p:nvSpPr>
        <p:spPr>
          <a:xfrm>
            <a:off x="2667548" y="3793705"/>
            <a:ext cx="8765410" cy="781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3366FF"/>
                </a:solidFill>
              </a:rPr>
              <a:t>Chapter 2: Programming with Event Driven in C#</a:t>
            </a:r>
          </a:p>
        </p:txBody>
      </p:sp>
      <p:sp>
        <p:nvSpPr>
          <p:cNvPr id="18" name="Circle: Hollow 17">
            <a:extLst>
              <a:ext uri="{FF2B5EF4-FFF2-40B4-BE49-F238E27FC236}">
                <a16:creationId xmlns:a16="http://schemas.microsoft.com/office/drawing/2014/main" xmlns="" id="{633F8239-C13A-78C1-40F1-FA4F06698E1A}"/>
              </a:ext>
            </a:extLst>
          </p:cNvPr>
          <p:cNvSpPr/>
          <p:nvPr/>
        </p:nvSpPr>
        <p:spPr>
          <a:xfrm>
            <a:off x="-99846" y="2964425"/>
            <a:ext cx="2931533" cy="3333135"/>
          </a:xfrm>
          <a:prstGeom prst="donut">
            <a:avLst>
              <a:gd name="adj" fmla="val 37614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CD4202DD-A89C-E667-DCFA-9BF0692F4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3" y="3115621"/>
            <a:ext cx="2632015" cy="3038772"/>
          </a:xfrm>
          <a:prstGeom prst="ellipse">
            <a:avLst/>
          </a:prstGeom>
        </p:spPr>
      </p:pic>
      <p:sp>
        <p:nvSpPr>
          <p:cNvPr id="9" name="Half Frame 8">
            <a:extLst>
              <a:ext uri="{FF2B5EF4-FFF2-40B4-BE49-F238E27FC236}">
                <a16:creationId xmlns:a16="http://schemas.microsoft.com/office/drawing/2014/main" xmlns="" id="{D0F305D3-027F-9E46-9283-CE69353B198E}"/>
              </a:ext>
            </a:extLst>
          </p:cNvPr>
          <p:cNvSpPr/>
          <p:nvPr/>
        </p:nvSpPr>
        <p:spPr>
          <a:xfrm>
            <a:off x="-129342" y="-119979"/>
            <a:ext cx="914400" cy="914400"/>
          </a:xfrm>
          <a:prstGeom prst="halfFram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Half Frame 12">
            <a:extLst>
              <a:ext uri="{FF2B5EF4-FFF2-40B4-BE49-F238E27FC236}">
                <a16:creationId xmlns:a16="http://schemas.microsoft.com/office/drawing/2014/main" xmlns="" id="{8A890EA5-70D8-5D53-6449-29F85476A3E3}"/>
              </a:ext>
            </a:extLst>
          </p:cNvPr>
          <p:cNvSpPr/>
          <p:nvPr/>
        </p:nvSpPr>
        <p:spPr>
          <a:xfrm rot="16200000">
            <a:off x="-125515" y="5991556"/>
            <a:ext cx="914400" cy="914400"/>
          </a:xfrm>
          <a:prstGeom prst="halfFram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6AF51D-E104-68C1-BC44-1DCEFE025046}"/>
              </a:ext>
            </a:extLst>
          </p:cNvPr>
          <p:cNvSpPr txBox="1">
            <a:spLocks/>
          </p:cNvSpPr>
          <p:nvPr/>
        </p:nvSpPr>
        <p:spPr>
          <a:xfrm>
            <a:off x="1980668" y="2142696"/>
            <a:ext cx="8747607" cy="1593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</a:rPr>
              <a:t>DEBRE BERHAN UNIVERSTITY</a:t>
            </a: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</a:rPr>
              <a:t>College of Computing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BB26F2C-7FDA-07C4-76E8-2076512F980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469518" y="66254"/>
            <a:ext cx="3435617" cy="214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8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BC687F8E-2161-93C3-3D98-F6FEB32B36C8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443A258D-E8F0-3435-9A0E-8424CF960521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4D836890-9299-1315-FBFC-F1F7598D1D74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6562320A-B0D7-D8A8-AA00-1869EF392EDA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xmlns="" id="{B18B4451-2D9D-49A1-BCEA-8E701A61B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633" y="1207354"/>
            <a:ext cx="7488734" cy="544611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C# Fundamentals:</a:t>
            </a:r>
          </a:p>
          <a:p>
            <a:pPr marL="1430338" indent="-227013"/>
            <a:r>
              <a:rPr lang="en-US" sz="2400" dirty="0"/>
              <a:t>Data types, </a:t>
            </a:r>
          </a:p>
          <a:p>
            <a:pPr marL="1430338" indent="-227013"/>
            <a:r>
              <a:rPr lang="en-US" sz="2400" dirty="0"/>
              <a:t>Variables, </a:t>
            </a:r>
          </a:p>
          <a:p>
            <a:pPr marL="1430338" indent="-227013"/>
            <a:r>
              <a:rPr lang="en-US" sz="2400" dirty="0"/>
              <a:t>Operators, </a:t>
            </a:r>
          </a:p>
          <a:p>
            <a:pPr marL="1430338" indent="-227013"/>
            <a:r>
              <a:rPr lang="en-US" sz="2400" dirty="0"/>
              <a:t>Control Flow Statements,</a:t>
            </a:r>
          </a:p>
          <a:p>
            <a:pPr marL="1430338" indent="-227013"/>
            <a:r>
              <a:rPr lang="en-US" sz="2400" dirty="0"/>
              <a:t>Arrays, </a:t>
            </a:r>
          </a:p>
          <a:p>
            <a:pPr marL="1430338" indent="-227013"/>
            <a:r>
              <a:rPr lang="en-US" sz="2400" dirty="0"/>
              <a:t>Strings,</a:t>
            </a:r>
          </a:p>
          <a:p>
            <a:pPr marL="1430338" indent="-227013"/>
            <a:r>
              <a:rPr lang="en-US" sz="2400" dirty="0"/>
              <a:t>Functions…</a:t>
            </a:r>
          </a:p>
          <a:p>
            <a:r>
              <a:rPr lang="en-US" dirty="0"/>
              <a:t>OOP</a:t>
            </a:r>
          </a:p>
          <a:p>
            <a:r>
              <a:rPr lang="en-US" dirty="0"/>
              <a:t>Event</a:t>
            </a:r>
          </a:p>
          <a:p>
            <a:r>
              <a:rPr lang="en-US" dirty="0"/>
              <a:t>Delegate</a:t>
            </a:r>
          </a:p>
          <a:p>
            <a:r>
              <a:rPr lang="en-US" dirty="0"/>
              <a:t>Namespace and Library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xmlns="" id="{172049C1-00C2-414F-8CE8-6FC79E78D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92" y="483995"/>
            <a:ext cx="7355998" cy="71447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Outline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02BF6A51-C42A-3321-2243-38A5B36C9E4C}"/>
              </a:ext>
            </a:extLst>
          </p:cNvPr>
          <p:cNvGrpSpPr/>
          <p:nvPr/>
        </p:nvGrpSpPr>
        <p:grpSpPr>
          <a:xfrm>
            <a:off x="5984096" y="407004"/>
            <a:ext cx="6121386" cy="6450996"/>
            <a:chOff x="5984096" y="407004"/>
            <a:chExt cx="6121386" cy="645099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1EA7A915-F4E0-6722-5ED5-9A1F681DD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68" t="3081" b="2607"/>
            <a:stretch>
              <a:fillRect/>
            </a:stretch>
          </p:blipFill>
          <p:spPr>
            <a:xfrm>
              <a:off x="5984096" y="407004"/>
              <a:ext cx="6111761" cy="645099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2F6EEBD9-7E01-24B3-0C7E-738D5B0AB700}"/>
                </a:ext>
              </a:extLst>
            </p:cNvPr>
            <p:cNvSpPr txBox="1"/>
            <p:nvPr/>
          </p:nvSpPr>
          <p:spPr>
            <a:xfrm>
              <a:off x="10048774" y="2180925"/>
              <a:ext cx="1482291" cy="619125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C150232E-83D3-99D8-80D8-B91E48DE478A}"/>
                </a:ext>
              </a:extLst>
            </p:cNvPr>
            <p:cNvSpPr txBox="1"/>
            <p:nvPr/>
          </p:nvSpPr>
          <p:spPr>
            <a:xfrm>
              <a:off x="10289408" y="3767638"/>
              <a:ext cx="1816074" cy="619125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a:endParaRPr>
            </a:p>
          </p:txBody>
        </p:sp>
        <p:pic>
          <p:nvPicPr>
            <p:cNvPr id="13" name="Graphic 12" descr="Checkmark with solid fill">
              <a:extLst>
                <a:ext uri="{FF2B5EF4-FFF2-40B4-BE49-F238E27FC236}">
                  <a16:creationId xmlns:a16="http://schemas.microsoft.com/office/drawing/2014/main" xmlns="" id="{C7096947-0E70-2F08-FF9A-FE408C452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10539665" y="1130229"/>
              <a:ext cx="797292" cy="797292"/>
            </a:xfrm>
            <a:prstGeom prst="rect">
              <a:avLst/>
            </a:prstGeom>
          </p:spPr>
        </p:pic>
        <p:pic>
          <p:nvPicPr>
            <p:cNvPr id="14" name="Graphic 13" descr="Checkmark with solid fill">
              <a:extLst>
                <a:ext uri="{FF2B5EF4-FFF2-40B4-BE49-F238E27FC236}">
                  <a16:creationId xmlns:a16="http://schemas.microsoft.com/office/drawing/2014/main" xmlns="" id="{B69BDD70-A15F-3B83-C7EC-2A1173F1A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11182315" y="2800050"/>
              <a:ext cx="797292" cy="7972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445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6FF95532-DED8-F121-600F-4CD3E89E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Data Types in C#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6A5F88DB-0D45-270D-92FB-D9461011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106" y="1053046"/>
            <a:ext cx="11547986" cy="5478917"/>
          </a:xfrm>
        </p:spPr>
        <p:txBody>
          <a:bodyPr>
            <a:norm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type defines: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data is stored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memory it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690C96BA-DBCD-B56A-B945-75511913950A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1F4FDE01-0F6E-56B1-88AC-62693E6E464B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5865CFF1-A471-0DF3-CF57-56E440EA919F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4A7622A8-A66C-335D-83B3-D366518DB452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xmlns="" id="{88842832-F7D5-100C-8976-F7EA4283C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893120"/>
              </p:ext>
            </p:extLst>
          </p:nvPr>
        </p:nvGraphicFramePr>
        <p:xfrm>
          <a:off x="737007" y="3318828"/>
          <a:ext cx="11097434" cy="321313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00828">
                  <a:extLst>
                    <a:ext uri="{9D8B030D-6E8A-4147-A177-3AD203B41FA5}">
                      <a16:colId xmlns:a16="http://schemas.microsoft.com/office/drawing/2014/main" xmlns="" val="850571103"/>
                    </a:ext>
                  </a:extLst>
                </a:gridCol>
                <a:gridCol w="2410918">
                  <a:extLst>
                    <a:ext uri="{9D8B030D-6E8A-4147-A177-3AD203B41FA5}">
                      <a16:colId xmlns:a16="http://schemas.microsoft.com/office/drawing/2014/main" xmlns="" val="3845777130"/>
                    </a:ext>
                  </a:extLst>
                </a:gridCol>
                <a:gridCol w="7385688">
                  <a:extLst>
                    <a:ext uri="{9D8B030D-6E8A-4147-A177-3AD203B41FA5}">
                      <a16:colId xmlns:a16="http://schemas.microsoft.com/office/drawing/2014/main" xmlns="" val="1563846910"/>
                    </a:ext>
                  </a:extLst>
                </a:gridCol>
              </a:tblGrid>
              <a:tr h="3658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Type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Size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41668681"/>
                  </a:ext>
                </a:extLst>
              </a:tr>
              <a:tr h="365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Stores whole numbers from -2,147,483,648 to 2,147,483,647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319993388"/>
                  </a:ext>
                </a:extLst>
              </a:tr>
              <a:tr h="640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Stores whole numbers from -9,223,372,036,854,775,808 to 9,223,372,036,854,775,807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751556673"/>
                  </a:ext>
                </a:extLst>
              </a:tr>
              <a:tr h="365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Stores fractional numbers &amp; sufficient for storing 6 to 7 decimal digits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172223357"/>
                  </a:ext>
                </a:extLst>
              </a:tr>
              <a:tr h="365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Stores fractional numbers &amp; sufficient for storing 15 decimal digits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91459621"/>
                  </a:ext>
                </a:extLst>
              </a:tr>
              <a:tr h="365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Stores true or false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577857059"/>
                  </a:ext>
                </a:extLst>
              </a:tr>
              <a:tr h="365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Stores a single character/letter, surrounded by single quotes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588893059"/>
                  </a:ext>
                </a:extLst>
              </a:tr>
              <a:tr h="377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bytes per character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Stores a sequence of characters, surrounded by double quotes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64946726"/>
                  </a:ext>
                </a:extLst>
              </a:tr>
            </a:tbl>
          </a:graphicData>
        </a:graphic>
      </p:graphicFrame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493619" y="1401107"/>
            <a:ext cx="345799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 Unicode M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age = 20;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string name = "Abel";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isPassed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true;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212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Value vs Reference Types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C#?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69"/>
            <a:ext cx="11547986" cy="5700657"/>
          </a:xfrm>
        </p:spPr>
        <p:txBody>
          <a:bodyPr>
            <a:normAutofit fontScale="92500" lnSpcReduction="20000"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latin typeface="+mj-lt"/>
              </a:rPr>
              <a:t>Value types </a:t>
            </a:r>
            <a:r>
              <a:rPr lang="en-US" altLang="en-US" sz="2400" dirty="0">
                <a:latin typeface="+mj-lt"/>
              </a:rPr>
              <a:t>directly contain their data. </a:t>
            </a:r>
            <a:endParaRPr lang="en-US" altLang="en-US" sz="2400" dirty="0" smtClean="0">
              <a:latin typeface="+mj-lt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 smtClean="0">
                <a:latin typeface="+mj-lt"/>
              </a:rPr>
              <a:t>Assigning </a:t>
            </a:r>
            <a:r>
              <a:rPr lang="en-US" altLang="en-US" sz="2400" dirty="0">
                <a:latin typeface="+mj-lt"/>
              </a:rPr>
              <a:t>one variable to another creates a completely independent copy.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latin typeface="+mj-lt"/>
              </a:rPr>
              <a:t>Key Characteristics:</a:t>
            </a:r>
            <a:endParaRPr lang="en-US" altLang="en-US" sz="2400" dirty="0">
              <a:latin typeface="+mj-lt"/>
            </a:endParaRP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latin typeface="+mj-lt"/>
              </a:rPr>
              <a:t>Memory:</a:t>
            </a:r>
            <a:r>
              <a:rPr lang="en-US" altLang="en-US" dirty="0">
                <a:latin typeface="+mj-lt"/>
              </a:rPr>
              <a:t> Typically stored on the </a:t>
            </a:r>
            <a:r>
              <a:rPr lang="en-US" altLang="en-US" b="1" dirty="0">
                <a:latin typeface="+mj-lt"/>
              </a:rPr>
              <a:t>Stack</a:t>
            </a:r>
            <a:r>
              <a:rPr lang="en-US" altLang="en-US" dirty="0">
                <a:latin typeface="+mj-lt"/>
              </a:rPr>
              <a:t>.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latin typeface="+mj-lt"/>
              </a:rPr>
              <a:t>Common Types:</a:t>
            </a:r>
            <a:r>
              <a:rPr lang="en-US" altLang="en-US" dirty="0">
                <a:latin typeface="+mj-lt"/>
              </a:rPr>
              <a:t> </a:t>
            </a:r>
            <a:r>
              <a:rPr lang="en-US" altLang="en-US" dirty="0" err="1">
                <a:latin typeface="+mj-lt"/>
              </a:rPr>
              <a:t>int</a:t>
            </a:r>
            <a:r>
              <a:rPr lang="en-US" altLang="en-US" dirty="0">
                <a:latin typeface="+mj-lt"/>
              </a:rPr>
              <a:t>, bool, double, char, and </a:t>
            </a:r>
            <a:r>
              <a:rPr lang="en-US" altLang="en-US" dirty="0" err="1">
                <a:latin typeface="+mj-lt"/>
              </a:rPr>
              <a:t>struct</a:t>
            </a:r>
            <a:r>
              <a:rPr lang="en-US" altLang="en-US" dirty="0">
                <a:latin typeface="+mj-lt"/>
              </a:rPr>
              <a:t>.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latin typeface="+mj-lt"/>
              </a:rPr>
              <a:t>Behavior:</a:t>
            </a:r>
            <a:r>
              <a:rPr lang="en-US" altLang="en-US" dirty="0">
                <a:latin typeface="+mj-lt"/>
              </a:rPr>
              <a:t> Changing the "copy" does </a:t>
            </a:r>
            <a:r>
              <a:rPr lang="en-US" altLang="en-US" b="1" dirty="0">
                <a:latin typeface="+mj-lt"/>
              </a:rPr>
              <a:t>not</a:t>
            </a:r>
            <a:r>
              <a:rPr lang="en-US" altLang="en-US" dirty="0">
                <a:latin typeface="+mj-lt"/>
              </a:rPr>
              <a:t> affect the original</a:t>
            </a:r>
            <a:r>
              <a:rPr lang="en-US" altLang="en-US" dirty="0" smtClean="0">
                <a:latin typeface="+mj-lt"/>
              </a:rPr>
              <a:t>.</a:t>
            </a:r>
          </a:p>
          <a:p>
            <a:pPr marL="34291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b="1" dirty="0"/>
              <a:t>Example</a:t>
            </a:r>
            <a:r>
              <a:rPr lang="en-US" b="1" dirty="0" smtClean="0"/>
              <a:t>: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err="1">
                <a:solidFill>
                  <a:srgbClr val="C58AF9"/>
                </a:solidFill>
                <a:latin typeface="Arial Unicode MS"/>
              </a:rPr>
              <a:t>int</a:t>
            </a:r>
            <a:r>
              <a:rPr lang="en-US" altLang="en-US" dirty="0">
                <a:solidFill>
                  <a:srgbClr val="E6E8F0"/>
                </a:solidFill>
                <a:latin typeface="Arial Unicode MS"/>
              </a:rPr>
              <a:t> </a:t>
            </a:r>
            <a:r>
              <a:rPr lang="en-US" altLang="en-US" dirty="0">
                <a:latin typeface="Arial Unicode MS"/>
              </a:rPr>
              <a:t>a = </a:t>
            </a:r>
            <a:r>
              <a:rPr lang="en-US" altLang="en-US" dirty="0">
                <a:solidFill>
                  <a:srgbClr val="FA903E"/>
                </a:solidFill>
                <a:latin typeface="Arial Unicode MS"/>
              </a:rPr>
              <a:t>10</a:t>
            </a:r>
            <a:r>
              <a:rPr lang="en-US" altLang="en-US" dirty="0">
                <a:solidFill>
                  <a:srgbClr val="E6E8F0"/>
                </a:solidFill>
                <a:latin typeface="Arial Unicode MS"/>
              </a:rPr>
              <a:t>; </a:t>
            </a:r>
            <a:endParaRPr lang="en-US" altLang="en-US" dirty="0" smtClean="0">
              <a:solidFill>
                <a:srgbClr val="E6E8F0"/>
              </a:solidFill>
              <a:latin typeface="Arial Unicode MS"/>
            </a:endParaRP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err="1" smtClean="0">
                <a:solidFill>
                  <a:srgbClr val="C58AF9"/>
                </a:solidFill>
                <a:latin typeface="Arial Unicode MS"/>
              </a:rPr>
              <a:t>int</a:t>
            </a:r>
            <a:r>
              <a:rPr lang="en-US" altLang="en-US" dirty="0" smtClean="0">
                <a:solidFill>
                  <a:srgbClr val="E6E8F0"/>
                </a:solidFill>
                <a:latin typeface="Arial Unicode MS"/>
              </a:rPr>
              <a:t> </a:t>
            </a:r>
            <a:r>
              <a:rPr lang="en-US" altLang="en-US" dirty="0">
                <a:latin typeface="Arial Unicode MS"/>
              </a:rPr>
              <a:t>b = a; </a:t>
            </a:r>
            <a:r>
              <a:rPr lang="en-US" altLang="en-US" i="1" dirty="0">
                <a:latin typeface="Arial Unicode MS"/>
              </a:rPr>
              <a:t>// A copy of '10' is created for 'b'</a:t>
            </a:r>
            <a:r>
              <a:rPr lang="en-US" altLang="en-US" dirty="0">
                <a:latin typeface="Arial Unicode MS"/>
              </a:rPr>
              <a:t> </a:t>
            </a:r>
            <a:endParaRPr lang="en-US" altLang="en-US" dirty="0" smtClean="0">
              <a:latin typeface="Arial Unicode MS"/>
            </a:endParaRP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smtClean="0">
                <a:latin typeface="Arial Unicode MS"/>
              </a:rPr>
              <a:t>b </a:t>
            </a:r>
            <a:r>
              <a:rPr lang="en-US" altLang="en-US" dirty="0">
                <a:latin typeface="Arial Unicode MS"/>
              </a:rPr>
              <a:t>= </a:t>
            </a:r>
            <a:r>
              <a:rPr lang="en-US" altLang="en-US" dirty="0">
                <a:solidFill>
                  <a:srgbClr val="FA903E"/>
                </a:solidFill>
                <a:latin typeface="Arial Unicode MS"/>
              </a:rPr>
              <a:t>20</a:t>
            </a:r>
            <a:r>
              <a:rPr lang="en-US" altLang="en-US" dirty="0">
                <a:solidFill>
                  <a:srgbClr val="E6E8F0"/>
                </a:solidFill>
                <a:latin typeface="Arial Unicode MS"/>
              </a:rPr>
              <a:t>; </a:t>
            </a:r>
            <a:r>
              <a:rPr lang="en-US" altLang="en-US" i="1" dirty="0">
                <a:latin typeface="Arial Unicode MS"/>
              </a:rPr>
              <a:t>// Only 'b' changes</a:t>
            </a:r>
            <a:r>
              <a:rPr lang="en-US" altLang="en-US" dirty="0">
                <a:latin typeface="Arial Unicode MS"/>
              </a:rPr>
              <a:t> </a:t>
            </a:r>
            <a:endParaRPr lang="en-US" altLang="en-US" dirty="0" smtClean="0">
              <a:latin typeface="Arial Unicode MS"/>
            </a:endParaRP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err="1" smtClean="0">
                <a:latin typeface="Arial Unicode MS"/>
              </a:rPr>
              <a:t>Console.WriteLine</a:t>
            </a:r>
            <a:r>
              <a:rPr lang="en-US" altLang="en-US" dirty="0" smtClean="0">
                <a:latin typeface="Arial Unicode MS"/>
              </a:rPr>
              <a:t>(a</a:t>
            </a:r>
            <a:r>
              <a:rPr lang="en-US" altLang="en-US" dirty="0">
                <a:latin typeface="Arial Unicode MS"/>
              </a:rPr>
              <a:t>); </a:t>
            </a:r>
            <a:r>
              <a:rPr lang="en-US" altLang="en-US" i="1" dirty="0">
                <a:latin typeface="Arial Unicode MS"/>
              </a:rPr>
              <a:t>// Output: 10</a:t>
            </a:r>
            <a:r>
              <a:rPr lang="en-US" altLang="en-US" dirty="0">
                <a:latin typeface="Arial Unicode MS"/>
              </a:rPr>
              <a:t> </a:t>
            </a:r>
            <a:endParaRPr lang="en-US" altLang="en-US" dirty="0" smtClean="0">
              <a:latin typeface="Arial Unicode MS"/>
            </a:endParaRP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err="1" smtClean="0">
                <a:latin typeface="Arial Unicode MS"/>
              </a:rPr>
              <a:t>Console.WriteLine</a:t>
            </a:r>
            <a:r>
              <a:rPr lang="en-US" altLang="en-US" dirty="0" smtClean="0">
                <a:latin typeface="Arial Unicode MS"/>
              </a:rPr>
              <a:t>(b</a:t>
            </a:r>
            <a:r>
              <a:rPr lang="en-US" altLang="en-US" dirty="0">
                <a:latin typeface="Arial Unicode MS"/>
              </a:rPr>
              <a:t>); </a:t>
            </a:r>
            <a:r>
              <a:rPr lang="en-US" altLang="en-US" i="1" dirty="0">
                <a:latin typeface="Arial Unicode MS"/>
              </a:rPr>
              <a:t>// Output: 20</a:t>
            </a:r>
            <a:r>
              <a:rPr lang="en-US" altLang="en-US" sz="2000" dirty="0"/>
              <a:t> </a:t>
            </a:r>
            <a:endParaRPr lang="en-US" altLang="en-US" sz="48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4741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Value vs Reference Types</a:t>
            </a:r>
            <a:r>
              <a:rPr lang="en-US" sz="2800" dirty="0">
                <a:solidFill>
                  <a:schemeClr val="tx1"/>
                </a:solidFill>
              </a:rPr>
              <a:t> C#?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912530"/>
          </a:xfrm>
        </p:spPr>
        <p:txBody>
          <a:bodyPr>
            <a:norm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+mj-lt"/>
              </a:rPr>
              <a:t>Reference types </a:t>
            </a:r>
            <a:r>
              <a:rPr lang="en-US" altLang="en-US" sz="2400" dirty="0">
                <a:latin typeface="+mj-lt"/>
              </a:rPr>
              <a:t>store a </a:t>
            </a:r>
            <a:r>
              <a:rPr lang="en-US" altLang="en-US" sz="2400" b="1" dirty="0">
                <a:latin typeface="+mj-lt"/>
              </a:rPr>
              <a:t>pointer</a:t>
            </a:r>
            <a:r>
              <a:rPr lang="en-US" altLang="en-US" sz="2400" dirty="0">
                <a:latin typeface="+mj-lt"/>
              </a:rPr>
              <a:t> (memory address) to the data. </a:t>
            </a:r>
            <a:endParaRPr lang="en-US" altLang="en-US" sz="2400" dirty="0" smtClean="0">
              <a:latin typeface="+mj-lt"/>
            </a:endParaRPr>
          </a:p>
          <a:p>
            <a:pPr marL="34291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b="1" dirty="0" smtClean="0">
                <a:latin typeface="+mj-lt"/>
              </a:rPr>
              <a:t>Common </a:t>
            </a:r>
            <a:r>
              <a:rPr lang="en-US" altLang="en-US" b="1" dirty="0">
                <a:latin typeface="+mj-lt"/>
              </a:rPr>
              <a:t>Types:</a:t>
            </a:r>
            <a:r>
              <a:rPr lang="en-US" altLang="en-US" dirty="0">
                <a:latin typeface="+mj-lt"/>
              </a:rPr>
              <a:t> class, string, array, and interface.</a:t>
            </a:r>
          </a:p>
          <a:p>
            <a:pPr marL="34291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+mj-lt"/>
              </a:rPr>
              <a:t>Behavior:</a:t>
            </a:r>
            <a:r>
              <a:rPr lang="en-US" altLang="en-US" dirty="0">
                <a:latin typeface="+mj-lt"/>
              </a:rPr>
              <a:t> Changing the object through one variable affects all variables pointing to it.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b="1" dirty="0" smtClean="0">
                <a:latin typeface="+mj-lt"/>
              </a:rPr>
              <a:t>Example</a:t>
            </a:r>
            <a:r>
              <a:rPr lang="en-US" altLang="en-US" sz="2400" b="1" dirty="0">
                <a:latin typeface="+mj-lt"/>
              </a:rPr>
              <a:t>:</a:t>
            </a:r>
            <a:endParaRPr lang="en-US" altLang="en-US" sz="2400" dirty="0">
              <a:latin typeface="+mj-lt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Arial Unicode MS"/>
              </a:rPr>
              <a:t>class </a:t>
            </a:r>
            <a:r>
              <a:rPr lang="en-US" altLang="en-US" sz="2400" dirty="0">
                <a:latin typeface="Arial Unicode MS"/>
              </a:rPr>
              <a:t>Person { public string Name; } </a:t>
            </a:r>
            <a:endParaRPr lang="en-US" altLang="en-US" sz="2400" dirty="0" smtClean="0">
              <a:latin typeface="Arial Unicode MS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Arial Unicode MS"/>
              </a:rPr>
              <a:t>Person </a:t>
            </a:r>
            <a:r>
              <a:rPr lang="en-US" altLang="en-US" sz="2400" dirty="0">
                <a:latin typeface="Arial Unicode MS"/>
              </a:rPr>
              <a:t>p1 = new Person { Name = "Alice" }; </a:t>
            </a:r>
            <a:endParaRPr lang="en-US" altLang="en-US" sz="2400" dirty="0" smtClean="0">
              <a:latin typeface="Arial Unicode MS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Arial Unicode MS"/>
              </a:rPr>
              <a:t>Person </a:t>
            </a:r>
            <a:r>
              <a:rPr lang="en-US" altLang="en-US" sz="2400" dirty="0">
                <a:latin typeface="Arial Unicode MS"/>
              </a:rPr>
              <a:t>p2 = p1; </a:t>
            </a:r>
            <a:r>
              <a:rPr lang="en-US" altLang="en-US" sz="2400" i="1" dirty="0">
                <a:latin typeface="Arial Unicode MS"/>
              </a:rPr>
              <a:t>// Both p1 and p2 point to the SAME object</a:t>
            </a:r>
            <a:r>
              <a:rPr lang="en-US" altLang="en-US" sz="2400" dirty="0">
                <a:latin typeface="Arial Unicode MS"/>
              </a:rPr>
              <a:t> </a:t>
            </a:r>
            <a:endParaRPr lang="en-US" altLang="en-US" sz="2400" dirty="0" smtClean="0">
              <a:latin typeface="Arial Unicode MS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Arial Unicode MS"/>
              </a:rPr>
              <a:t>p2.Name </a:t>
            </a:r>
            <a:r>
              <a:rPr lang="en-US" altLang="en-US" sz="2400" dirty="0">
                <a:latin typeface="Arial Unicode MS"/>
              </a:rPr>
              <a:t>= "Bob"; </a:t>
            </a:r>
            <a:r>
              <a:rPr lang="en-US" altLang="en-US" sz="2400" i="1" dirty="0">
                <a:latin typeface="Arial Unicode MS"/>
              </a:rPr>
              <a:t>// Changes the actual object in memory</a:t>
            </a:r>
            <a:r>
              <a:rPr lang="en-US" altLang="en-US" sz="2400" dirty="0">
                <a:latin typeface="Arial Unicode MS"/>
              </a:rPr>
              <a:t> </a:t>
            </a:r>
            <a:endParaRPr lang="en-US" altLang="en-US" sz="2400" dirty="0" smtClean="0">
              <a:latin typeface="Arial Unicode MS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 err="1" smtClean="0">
                <a:latin typeface="Arial Unicode MS"/>
              </a:rPr>
              <a:t>Console.WriteLine</a:t>
            </a:r>
            <a:r>
              <a:rPr lang="en-US" altLang="en-US" sz="2400" dirty="0" smtClean="0">
                <a:latin typeface="Arial Unicode MS"/>
              </a:rPr>
              <a:t>(p1.Name</a:t>
            </a:r>
            <a:r>
              <a:rPr lang="en-US" altLang="en-US" sz="2400" dirty="0">
                <a:latin typeface="Arial Unicode MS"/>
              </a:rPr>
              <a:t>); </a:t>
            </a:r>
            <a:r>
              <a:rPr lang="en-US" altLang="en-US" sz="2400" i="1" dirty="0">
                <a:latin typeface="Arial Unicode MS"/>
              </a:rPr>
              <a:t>// Output: Bob (Surprise!)</a:t>
            </a:r>
            <a:endParaRPr lang="en-US" alt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75061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Variables and Rules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Rules: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declare before use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have type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Case-sensitive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name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score = 90; 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double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 = 0.15; 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studentName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"Marta";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7218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Operators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2400" dirty="0" smtClean="0"/>
              <a:t>Arithmetic</a:t>
            </a:r>
          </a:p>
          <a:p>
            <a:pPr lvl="1" algn="just">
              <a:lnSpc>
                <a:spcPct val="120000"/>
              </a:lnSpc>
            </a:pPr>
            <a:r>
              <a:rPr lang="en-US" sz="1900" dirty="0"/>
              <a:t>+  -  *  /  %</a:t>
            </a:r>
          </a:p>
          <a:p>
            <a:pPr algn="just">
              <a:lnSpc>
                <a:spcPct val="120000"/>
              </a:lnSpc>
            </a:pPr>
            <a:r>
              <a:rPr lang="en-US" sz="2400" dirty="0" smtClean="0"/>
              <a:t>Comparison</a:t>
            </a:r>
          </a:p>
          <a:p>
            <a:pPr lvl="1" algn="just">
              <a:lnSpc>
                <a:spcPct val="120000"/>
              </a:lnSpc>
            </a:pPr>
            <a:r>
              <a:rPr lang="en-US" sz="1900" dirty="0"/>
              <a:t>==  !=  &gt;  &lt;  &gt;=  &lt;=</a:t>
            </a:r>
          </a:p>
          <a:p>
            <a:pPr algn="just">
              <a:lnSpc>
                <a:spcPct val="120000"/>
              </a:lnSpc>
            </a:pPr>
            <a:r>
              <a:rPr lang="en-US" sz="2400" dirty="0" smtClean="0"/>
              <a:t>Logical</a:t>
            </a:r>
          </a:p>
          <a:p>
            <a:pPr lvl="1" algn="just">
              <a:lnSpc>
                <a:spcPct val="120000"/>
              </a:lnSpc>
            </a:pPr>
            <a:r>
              <a:rPr lang="en-US" sz="1900" dirty="0"/>
              <a:t>&amp;&amp;  ||  !</a:t>
            </a:r>
          </a:p>
          <a:p>
            <a:pPr algn="just">
              <a:lnSpc>
                <a:spcPct val="120000"/>
              </a:lnSpc>
            </a:pPr>
            <a:r>
              <a:rPr lang="en-US" sz="2400" dirty="0"/>
              <a:t>Example</a:t>
            </a:r>
            <a:r>
              <a:rPr lang="en-US" sz="2400" dirty="0" smtClean="0"/>
              <a:t>:</a:t>
            </a:r>
          </a:p>
          <a:p>
            <a:pPr lvl="1" algn="just">
              <a:lnSpc>
                <a:spcPct val="120000"/>
              </a:lnSpc>
            </a:pPr>
            <a:r>
              <a:rPr lang="en-US" sz="1900" dirty="0" err="1"/>
              <a:t>int</a:t>
            </a:r>
            <a:r>
              <a:rPr lang="en-US" sz="1900" dirty="0"/>
              <a:t> a = 10;</a:t>
            </a:r>
          </a:p>
          <a:p>
            <a:pPr lvl="1" algn="just">
              <a:lnSpc>
                <a:spcPct val="120000"/>
              </a:lnSpc>
            </a:pPr>
            <a:r>
              <a:rPr lang="en-US" sz="1900" dirty="0" err="1"/>
              <a:t>int</a:t>
            </a:r>
            <a:r>
              <a:rPr lang="en-US" sz="1900" dirty="0"/>
              <a:t> b = 5;</a:t>
            </a:r>
          </a:p>
          <a:p>
            <a:pPr lvl="1" algn="just">
              <a:lnSpc>
                <a:spcPct val="120000"/>
              </a:lnSpc>
            </a:pPr>
            <a:r>
              <a:rPr lang="en-US" sz="1900" dirty="0" err="1"/>
              <a:t>Console.WriteLine</a:t>
            </a:r>
            <a:r>
              <a:rPr lang="en-US" sz="1900" dirty="0"/>
              <a:t>(a &gt; b); // true</a:t>
            </a:r>
          </a:p>
          <a:p>
            <a:pPr algn="just">
              <a:lnSpc>
                <a:spcPct val="120000"/>
              </a:lnSpc>
            </a:pPr>
            <a:endParaRPr lang="en-US" sz="23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7798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Conditional Statements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2400" dirty="0"/>
              <a:t>if </a:t>
            </a:r>
            <a:r>
              <a:rPr lang="en-US" sz="2400" dirty="0" smtClean="0"/>
              <a:t>statement</a:t>
            </a:r>
          </a:p>
          <a:p>
            <a:pPr algn="just">
              <a:lnSpc>
                <a:spcPct val="120000"/>
              </a:lnSpc>
            </a:pPr>
            <a:endParaRPr lang="en-US" sz="23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985025" y="2087624"/>
            <a:ext cx="567225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int</a:t>
            </a:r>
            <a:r>
              <a:rPr lang="en-US" sz="2400" dirty="0"/>
              <a:t> mark = 60;</a:t>
            </a:r>
          </a:p>
          <a:p>
            <a:endParaRPr lang="en-US" sz="2400" dirty="0"/>
          </a:p>
          <a:p>
            <a:r>
              <a:rPr lang="en-US" sz="2400" dirty="0"/>
              <a:t>if(mark &gt;= 50)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Console.WriteLine</a:t>
            </a:r>
            <a:r>
              <a:rPr lang="en-US" sz="2400" dirty="0"/>
              <a:t>("Pass");</a:t>
            </a:r>
          </a:p>
          <a:p>
            <a:r>
              <a:rPr lang="en-US" sz="2400" dirty="0"/>
              <a:t>}</a:t>
            </a:r>
          </a:p>
          <a:p>
            <a:r>
              <a:rPr lang="en-US" sz="2400" dirty="0"/>
              <a:t>else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Console.WriteLine</a:t>
            </a:r>
            <a:r>
              <a:rPr lang="en-US" sz="2400" dirty="0"/>
              <a:t>("Fail");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198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/>
              <a:t>Conditional Statements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2400" dirty="0"/>
              <a:t>switch Statement</a:t>
            </a:r>
            <a:endParaRPr lang="en-US" sz="23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985024" y="2087624"/>
            <a:ext cx="561649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int</a:t>
            </a:r>
            <a:r>
              <a:rPr lang="en-US" sz="2400" dirty="0"/>
              <a:t> day = 2;</a:t>
            </a:r>
          </a:p>
          <a:p>
            <a:endParaRPr lang="en-US" sz="2400" dirty="0"/>
          </a:p>
          <a:p>
            <a:r>
              <a:rPr lang="en-US" sz="2400" dirty="0"/>
              <a:t>switch(day)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case 1: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Console.WriteLine</a:t>
            </a:r>
            <a:r>
              <a:rPr lang="en-US" sz="2400" dirty="0"/>
              <a:t>("Monday");</a:t>
            </a:r>
          </a:p>
          <a:p>
            <a:r>
              <a:rPr lang="en-US" sz="2400" dirty="0"/>
              <a:t>        break;</a:t>
            </a:r>
          </a:p>
          <a:p>
            <a:r>
              <a:rPr lang="en-US" sz="2400" dirty="0"/>
              <a:t>    case 2: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Console.WriteLine</a:t>
            </a:r>
            <a:r>
              <a:rPr lang="en-US" sz="2400" dirty="0"/>
              <a:t>("Tuesday");</a:t>
            </a:r>
          </a:p>
          <a:p>
            <a:r>
              <a:rPr lang="en-US" sz="2400" dirty="0"/>
              <a:t>        break;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6891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Loops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2400" dirty="0"/>
              <a:t>for </a:t>
            </a:r>
            <a:r>
              <a:rPr lang="en-US" sz="2400" dirty="0" smtClean="0"/>
              <a:t>loop</a:t>
            </a:r>
            <a:endParaRPr lang="en-US" sz="2400" dirty="0"/>
          </a:p>
          <a:p>
            <a:pPr algn="just">
              <a:lnSpc>
                <a:spcPct val="120000"/>
              </a:lnSpc>
            </a:pPr>
            <a:endParaRPr lang="en-US" sz="2400" dirty="0" smtClean="0"/>
          </a:p>
          <a:p>
            <a:pPr algn="just">
              <a:lnSpc>
                <a:spcPct val="120000"/>
              </a:lnSpc>
            </a:pPr>
            <a:endParaRPr lang="en-US" sz="2400" dirty="0"/>
          </a:p>
          <a:p>
            <a:pPr algn="just">
              <a:lnSpc>
                <a:spcPct val="120000"/>
              </a:lnSpc>
            </a:pPr>
            <a:endParaRPr lang="en-US" sz="2400" dirty="0" smtClean="0"/>
          </a:p>
          <a:p>
            <a:pPr algn="just">
              <a:lnSpc>
                <a:spcPct val="120000"/>
              </a:lnSpc>
            </a:pPr>
            <a:endParaRPr lang="en-US" sz="2400" dirty="0"/>
          </a:p>
          <a:p>
            <a:pPr algn="just">
              <a:lnSpc>
                <a:spcPct val="120000"/>
              </a:lnSpc>
            </a:pPr>
            <a:r>
              <a:rPr lang="en-US" sz="2400" dirty="0"/>
              <a:t>while loop</a:t>
            </a:r>
            <a:endParaRPr lang="en-US" sz="23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1721005" y="165795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for(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=0;i&lt;5;i++)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Console.WriteLine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2613103" y="4034724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=0;</a:t>
            </a:r>
          </a:p>
          <a:p>
            <a:r>
              <a:rPr lang="en-US" sz="2400" dirty="0"/>
              <a:t>while(</a:t>
            </a:r>
            <a:r>
              <a:rPr lang="en-US" sz="2400" dirty="0" err="1"/>
              <a:t>i</a:t>
            </a:r>
            <a:r>
              <a:rPr lang="en-US" sz="2400" dirty="0"/>
              <a:t>&lt;5)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Console.WriteLine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i</a:t>
            </a:r>
            <a:r>
              <a:rPr lang="en-US" sz="2400" dirty="0"/>
              <a:t>++;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6380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C# Arrays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69"/>
            <a:ext cx="11715614" cy="575641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US" dirty="0"/>
              <a:t>An array is a collection of variables of the </a:t>
            </a:r>
            <a:r>
              <a:rPr lang="en-US" b="1" dirty="0"/>
              <a:t>same data type</a:t>
            </a:r>
            <a:r>
              <a:rPr lang="en-US" dirty="0"/>
              <a:t> stored in contiguous memory locations. </a:t>
            </a:r>
            <a:endParaRPr lang="en-US" dirty="0" smtClean="0"/>
          </a:p>
          <a:p>
            <a:pPr algn="just">
              <a:lnSpc>
                <a:spcPct val="160000"/>
              </a:lnSpc>
            </a:pPr>
            <a:r>
              <a:rPr lang="en-US" dirty="0" smtClean="0"/>
              <a:t>They </a:t>
            </a:r>
            <a:r>
              <a:rPr lang="en-US" dirty="0"/>
              <a:t>are </a:t>
            </a:r>
            <a:r>
              <a:rPr lang="en-US" b="1" dirty="0"/>
              <a:t>zero-indexed</a:t>
            </a:r>
            <a:r>
              <a:rPr lang="en-US" dirty="0" smtClean="0"/>
              <a:t>.</a:t>
            </a:r>
            <a:r>
              <a:rPr lang="en-US" b="1" dirty="0"/>
              <a:t> </a:t>
            </a:r>
            <a:endParaRPr lang="en-US" b="1" dirty="0" smtClean="0"/>
          </a:p>
          <a:p>
            <a:pPr algn="just">
              <a:lnSpc>
                <a:spcPct val="160000"/>
              </a:lnSpc>
            </a:pPr>
            <a:r>
              <a:rPr lang="en-US" b="1" dirty="0" smtClean="0"/>
              <a:t>Fixed </a:t>
            </a:r>
            <a:r>
              <a:rPr lang="en-US" b="1" dirty="0"/>
              <a:t>Size:</a:t>
            </a:r>
            <a:r>
              <a:rPr lang="en-US" dirty="0"/>
              <a:t> The length of an array is established when it is created and cannot be changed during its lifetime</a:t>
            </a:r>
            <a:r>
              <a:rPr lang="en-US" dirty="0" smtClean="0"/>
              <a:t>.</a:t>
            </a:r>
          </a:p>
          <a:p>
            <a:pPr>
              <a:lnSpc>
                <a:spcPct val="160000"/>
              </a:lnSpc>
            </a:pPr>
            <a:r>
              <a:rPr lang="en-US" dirty="0"/>
              <a:t>Reference Type: Arrays are objects derived </a:t>
            </a:r>
            <a:r>
              <a:rPr lang="en-US" dirty="0" smtClean="0"/>
              <a:t>from the</a:t>
            </a:r>
            <a:r>
              <a:rPr lang="en-US" dirty="0"/>
              <a:t> </a:t>
            </a:r>
            <a:r>
              <a:rPr lang="en-US" dirty="0" err="1" smtClean="0">
                <a:hlinkClick r:id="rId2"/>
              </a:rPr>
              <a:t>System.Array</a:t>
            </a:r>
            <a:r>
              <a:rPr lang="en-US" dirty="0" smtClean="0"/>
              <a:t> class.</a:t>
            </a:r>
            <a:endParaRPr lang="en-US" altLang="en-US" dirty="0"/>
          </a:p>
          <a:p>
            <a:pPr marL="0" indent="0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200" dirty="0" err="1">
                <a:latin typeface="Arial Unicode MS"/>
              </a:rPr>
              <a:t>int</a:t>
            </a:r>
            <a:r>
              <a:rPr lang="en-US" altLang="en-US" sz="3200" dirty="0">
                <a:latin typeface="Arial Unicode MS"/>
              </a:rPr>
              <a:t>[] numbers = new </a:t>
            </a:r>
            <a:r>
              <a:rPr lang="en-US" altLang="en-US" sz="3200" dirty="0" err="1">
                <a:latin typeface="Arial Unicode MS"/>
              </a:rPr>
              <a:t>int</a:t>
            </a:r>
            <a:r>
              <a:rPr lang="en-US" altLang="en-US" sz="3200" dirty="0">
                <a:latin typeface="Arial Unicode MS"/>
              </a:rPr>
              <a:t>[5</a:t>
            </a:r>
            <a:r>
              <a:rPr lang="en-US" altLang="en-US" sz="3200" dirty="0" smtClean="0">
                <a:latin typeface="Arial Unicode MS"/>
              </a:rPr>
              <a:t>];</a:t>
            </a:r>
            <a:r>
              <a:rPr lang="en-US" altLang="en-US" dirty="0" smtClean="0"/>
              <a:t> </a:t>
            </a:r>
            <a:endParaRPr lang="en-US" altLang="en-US" sz="6000" dirty="0"/>
          </a:p>
          <a:p>
            <a:pPr marL="0" indent="0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200" dirty="0">
                <a:latin typeface="Arial Unicode MS"/>
              </a:rPr>
              <a:t>string[] fruits = ["Apple", "Banana", "Cherry"];</a:t>
            </a:r>
            <a:r>
              <a:rPr lang="en-US" altLang="en-US" dirty="0"/>
              <a:t> </a:t>
            </a:r>
            <a:endParaRPr lang="en-US" altLang="en-US" sz="6000" dirty="0"/>
          </a:p>
          <a:p>
            <a:pPr marL="0" indent="0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200" dirty="0">
                <a:latin typeface="Arial Unicode MS"/>
              </a:rPr>
              <a:t>double[] prices = { 10.5, 20.0, 5.75 };</a:t>
            </a:r>
            <a:r>
              <a:rPr lang="en-US" altLang="en-US" dirty="0"/>
              <a:t> </a:t>
            </a:r>
            <a:endParaRPr lang="en-US" altLang="en-US" sz="32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297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C# Arrays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69"/>
            <a:ext cx="11715614" cy="5756413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rovides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main structures for organizing collection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Single-Dimensional: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simple list of elements (the most common type).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Multidimensional (Rectangular):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single block of memory structured like a matrix (rows and columns).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 must have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number of columns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Jagged Array: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 "array of arrays" where each inner array can have a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length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[][] jagged = new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][];</a:t>
            </a:r>
          </a:p>
          <a:p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jagged[0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[1, 2, 3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jagged[1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[4, 5];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194092"/>
              </p:ext>
            </p:extLst>
          </p:nvPr>
        </p:nvGraphicFramePr>
        <p:xfrm>
          <a:off x="4184829" y="4805384"/>
          <a:ext cx="7914244" cy="1581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356">
                  <a:extLst>
                    <a:ext uri="{9D8B030D-6E8A-4147-A177-3AD203B41FA5}">
                      <a16:colId xmlns:a16="http://schemas.microsoft.com/office/drawing/2014/main" xmlns="" val="3442833504"/>
                    </a:ext>
                  </a:extLst>
                </a:gridCol>
                <a:gridCol w="3784771">
                  <a:extLst>
                    <a:ext uri="{9D8B030D-6E8A-4147-A177-3AD203B41FA5}">
                      <a16:colId xmlns:a16="http://schemas.microsoft.com/office/drawing/2014/main" xmlns="" val="3198991831"/>
                    </a:ext>
                  </a:extLst>
                </a:gridCol>
                <a:gridCol w="2442117">
                  <a:extLst>
                    <a:ext uri="{9D8B030D-6E8A-4147-A177-3AD203B41FA5}">
                      <a16:colId xmlns:a16="http://schemas.microsoft.com/office/drawing/2014/main" xmlns="" val="1987373252"/>
                    </a:ext>
                  </a:extLst>
                </a:gridCol>
              </a:tblGrid>
              <a:tr h="35524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Declaration Syntax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Visual Structure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03558160"/>
                  </a:ext>
                </a:extLst>
              </a:tr>
              <a:tr h="575483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Multidimensional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[,] matrix = new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[3, 2];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Fixed 3x2 Grid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28035980"/>
                  </a:ext>
                </a:extLst>
              </a:tr>
              <a:tr h="575483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Jagged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[][] jagged = new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[3][];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Variable row lengths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98380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00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 fontScale="90000"/>
          </a:bodyPr>
          <a:lstStyle/>
          <a:p>
            <a:r>
              <a:rPr lang="en-US" dirty="0"/>
              <a:t>Common Array Utility Methods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 </a:t>
            </a:r>
            <a:r>
              <a:rPr lang="en-US" sz="2400" dirty="0" err="1">
                <a:hlinkClick r:id="rId2"/>
              </a:rPr>
              <a:t>System.Array</a:t>
            </a:r>
            <a:r>
              <a:rPr lang="en-US" sz="2400" dirty="0"/>
              <a:t> class provides powerful static methods for manipulating array data without needing manual loops</a:t>
            </a:r>
            <a:r>
              <a:rPr lang="en-US" sz="2400" dirty="0" smtClean="0"/>
              <a:t>.</a:t>
            </a:r>
            <a:endParaRPr lang="en-US" altLang="en-US" sz="2400" dirty="0">
              <a:latin typeface="+mn-lt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latin typeface="+mn-lt"/>
              </a:rPr>
              <a:t>1. </a:t>
            </a:r>
            <a:r>
              <a:rPr lang="en-US" altLang="en-US" sz="2400" b="1" dirty="0" err="1">
                <a:latin typeface="+mn-lt"/>
              </a:rPr>
              <a:t>Array.Sort</a:t>
            </a:r>
            <a:r>
              <a:rPr lang="en-US" altLang="en-US" sz="2400" b="1" dirty="0">
                <a:latin typeface="+mn-lt"/>
              </a:rPr>
              <a:t>():</a:t>
            </a:r>
            <a:r>
              <a:rPr lang="en-US" altLang="en-US" sz="2400" dirty="0">
                <a:latin typeface="+mn-lt"/>
              </a:rPr>
              <a:t> Reorders elements in ascending order.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latin typeface="+mn-lt"/>
              </a:rPr>
              <a:t>2. </a:t>
            </a:r>
            <a:r>
              <a:rPr lang="en-US" altLang="en-US" sz="2400" b="1" dirty="0" err="1">
                <a:latin typeface="+mn-lt"/>
              </a:rPr>
              <a:t>Array.Reverse</a:t>
            </a:r>
            <a:r>
              <a:rPr lang="en-US" altLang="en-US" sz="2400" b="1" dirty="0">
                <a:latin typeface="+mn-lt"/>
              </a:rPr>
              <a:t>():</a:t>
            </a:r>
            <a:r>
              <a:rPr lang="en-US" altLang="en-US" sz="2400" dirty="0">
                <a:latin typeface="+mn-lt"/>
              </a:rPr>
              <a:t> Flips the order of elements (often used after Sort for descending order).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latin typeface="+mn-lt"/>
              </a:rPr>
              <a:t>3. </a:t>
            </a:r>
            <a:r>
              <a:rPr lang="en-US" altLang="en-US" sz="2400" b="1" dirty="0" err="1">
                <a:latin typeface="+mn-lt"/>
              </a:rPr>
              <a:t>Array.Resize</a:t>
            </a:r>
            <a:r>
              <a:rPr lang="en-US" altLang="en-US" sz="2400" b="1" dirty="0">
                <a:latin typeface="+mn-lt"/>
              </a:rPr>
              <a:t>():</a:t>
            </a:r>
            <a:r>
              <a:rPr lang="en-US" altLang="en-US" sz="2400" dirty="0">
                <a:latin typeface="+mn-lt"/>
              </a:rPr>
              <a:t> Changes the size of a one-dimensional array.</a:t>
            </a:r>
          </a:p>
          <a:p>
            <a:pPr marL="45720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i="1" dirty="0">
                <a:latin typeface="+mn-lt"/>
              </a:rPr>
              <a:t>Note:</a:t>
            </a:r>
            <a:r>
              <a:rPr lang="en-US" altLang="en-US" dirty="0">
                <a:latin typeface="+mn-lt"/>
              </a:rPr>
              <a:t> This actually creates a </a:t>
            </a:r>
            <a:r>
              <a:rPr lang="en-US" altLang="en-US" b="1" dirty="0">
                <a:latin typeface="+mn-lt"/>
              </a:rPr>
              <a:t>new</a:t>
            </a:r>
            <a:r>
              <a:rPr lang="en-US" altLang="en-US" dirty="0">
                <a:latin typeface="+mn-lt"/>
              </a:rPr>
              <a:t> array and copies the old data into it.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latin typeface="+mn-lt"/>
              </a:rPr>
              <a:t>4. </a:t>
            </a:r>
            <a:r>
              <a:rPr lang="en-US" altLang="en-US" sz="2400" b="1" dirty="0" err="1">
                <a:latin typeface="+mn-lt"/>
              </a:rPr>
              <a:t>Array.IndexOf</a:t>
            </a:r>
            <a:r>
              <a:rPr lang="en-US" altLang="en-US" sz="2400" b="1" dirty="0">
                <a:latin typeface="+mn-lt"/>
              </a:rPr>
              <a:t>():</a:t>
            </a:r>
            <a:r>
              <a:rPr lang="en-US" altLang="en-US" sz="2400" dirty="0">
                <a:latin typeface="+mn-lt"/>
              </a:rPr>
              <a:t> Searches for a specific value and returns its first index </a:t>
            </a:r>
            <a:r>
              <a:rPr lang="en-US" altLang="en-US" sz="2400" dirty="0" smtClean="0">
                <a:latin typeface="+mn-lt"/>
              </a:rPr>
              <a:t>position</a:t>
            </a:r>
            <a:endParaRPr lang="en-US" altLang="en-US" sz="2400" dirty="0">
              <a:latin typeface="+mn-l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58295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C# Array Methods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 lnSpcReduction="10000"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latin typeface="Arial Unicode MS"/>
              </a:rPr>
              <a:t>string[] students = ["Zoe", "Alice", "Bob"]; </a:t>
            </a:r>
            <a:endParaRPr lang="en-US" altLang="en-US" sz="2400" dirty="0" smtClean="0">
              <a:latin typeface="Arial Unicode MS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i="1" dirty="0" smtClean="0">
                <a:latin typeface="Arial Unicode MS"/>
              </a:rPr>
              <a:t>// </a:t>
            </a:r>
            <a:r>
              <a:rPr lang="en-US" altLang="en-US" sz="2400" i="1" dirty="0">
                <a:latin typeface="Arial Unicode MS"/>
              </a:rPr>
              <a:t>Sort alphabetically: ["Alice", "Bob", "Zoe"]</a:t>
            </a:r>
            <a:r>
              <a:rPr lang="en-US" altLang="en-US" sz="2400" dirty="0">
                <a:latin typeface="Arial Unicode MS"/>
              </a:rPr>
              <a:t> </a:t>
            </a:r>
            <a:endParaRPr lang="en-US" altLang="en-US" sz="2400" dirty="0" smtClean="0">
              <a:latin typeface="Arial Unicode MS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 err="1" smtClean="0">
                <a:latin typeface="Arial Unicode MS"/>
              </a:rPr>
              <a:t>Array.Sort</a:t>
            </a:r>
            <a:r>
              <a:rPr lang="en-US" altLang="en-US" sz="2400" dirty="0" smtClean="0">
                <a:latin typeface="Arial Unicode MS"/>
              </a:rPr>
              <a:t>(students);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 smtClean="0">
                <a:latin typeface="Arial Unicode MS"/>
              </a:rPr>
              <a:t> </a:t>
            </a:r>
            <a:r>
              <a:rPr lang="en-US" altLang="en-US" sz="2400" i="1" dirty="0">
                <a:latin typeface="Arial Unicode MS"/>
              </a:rPr>
              <a:t>// Search for a value</a:t>
            </a:r>
            <a:r>
              <a:rPr lang="en-US" altLang="en-US" sz="2400" dirty="0">
                <a:latin typeface="Arial Unicode MS"/>
              </a:rPr>
              <a:t> </a:t>
            </a:r>
            <a:endParaRPr lang="en-US" altLang="en-US" sz="2400" dirty="0" smtClean="0">
              <a:latin typeface="Arial Unicode MS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 err="1" smtClean="0">
                <a:latin typeface="Arial Unicode MS"/>
              </a:rPr>
              <a:t>int</a:t>
            </a:r>
            <a:r>
              <a:rPr lang="en-US" altLang="en-US" sz="2400" dirty="0" smtClean="0">
                <a:latin typeface="Arial Unicode MS"/>
              </a:rPr>
              <a:t> </a:t>
            </a:r>
            <a:r>
              <a:rPr lang="en-US" altLang="en-US" sz="2400" dirty="0">
                <a:latin typeface="Arial Unicode MS"/>
              </a:rPr>
              <a:t>position = </a:t>
            </a:r>
            <a:r>
              <a:rPr lang="en-US" altLang="en-US" sz="2400" dirty="0" err="1">
                <a:latin typeface="Arial Unicode MS"/>
              </a:rPr>
              <a:t>Array.IndexOf</a:t>
            </a:r>
            <a:r>
              <a:rPr lang="en-US" altLang="en-US" sz="2400" dirty="0">
                <a:latin typeface="Arial Unicode MS"/>
              </a:rPr>
              <a:t>(students, "Alice"); </a:t>
            </a:r>
            <a:endParaRPr lang="en-US" altLang="en-US" sz="2400" dirty="0" smtClean="0">
              <a:latin typeface="Arial Unicode MS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i="1" dirty="0" smtClean="0">
                <a:latin typeface="Arial Unicode MS"/>
              </a:rPr>
              <a:t>// </a:t>
            </a:r>
            <a:r>
              <a:rPr lang="en-US" altLang="en-US" sz="2400" i="1" dirty="0">
                <a:latin typeface="Arial Unicode MS"/>
              </a:rPr>
              <a:t>Returns 0</a:t>
            </a:r>
            <a:r>
              <a:rPr lang="en-US" altLang="en-US" sz="2400" dirty="0">
                <a:latin typeface="Arial Unicode MS"/>
              </a:rPr>
              <a:t> </a:t>
            </a:r>
            <a:endParaRPr lang="en-US" altLang="en-US" sz="2400" dirty="0" smtClean="0">
              <a:latin typeface="Arial Unicode MS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i="1" dirty="0" smtClean="0">
                <a:latin typeface="Arial Unicode MS"/>
              </a:rPr>
              <a:t>// </a:t>
            </a:r>
            <a:r>
              <a:rPr lang="en-US" altLang="en-US" sz="2400" i="1" dirty="0">
                <a:latin typeface="Arial Unicode MS"/>
              </a:rPr>
              <a:t>Flip the order: ["Zoe", "Bob", "Alice"]</a:t>
            </a:r>
            <a:r>
              <a:rPr lang="en-US" altLang="en-US" sz="2400" dirty="0">
                <a:latin typeface="Arial Unicode MS"/>
              </a:rPr>
              <a:t> </a:t>
            </a:r>
            <a:endParaRPr lang="en-US" altLang="en-US" sz="2400" dirty="0" smtClean="0">
              <a:latin typeface="Arial Unicode MS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 err="1" smtClean="0">
                <a:latin typeface="Arial Unicode MS"/>
              </a:rPr>
              <a:t>Array.Reverse</a:t>
            </a:r>
            <a:r>
              <a:rPr lang="en-US" altLang="en-US" sz="2400" dirty="0" smtClean="0">
                <a:latin typeface="Arial Unicode MS"/>
              </a:rPr>
              <a:t>(students</a:t>
            </a:r>
            <a:r>
              <a:rPr lang="en-US" altLang="en-US" sz="2400" dirty="0">
                <a:latin typeface="Arial Unicode MS"/>
              </a:rPr>
              <a:t>); </a:t>
            </a:r>
            <a:endParaRPr lang="en-US" altLang="en-US" sz="2400" dirty="0" smtClean="0">
              <a:latin typeface="Arial Unicode MS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i="1" dirty="0" smtClean="0">
                <a:latin typeface="Arial Unicode MS"/>
              </a:rPr>
              <a:t>// </a:t>
            </a:r>
            <a:r>
              <a:rPr lang="en-US" altLang="en-US" sz="2400" i="1" dirty="0">
                <a:latin typeface="Arial Unicode MS"/>
              </a:rPr>
              <a:t>Increase size to 5 (fills new slots with null)</a:t>
            </a:r>
            <a:r>
              <a:rPr lang="en-US" altLang="en-US" sz="2400" dirty="0">
                <a:latin typeface="Arial Unicode MS"/>
              </a:rPr>
              <a:t> </a:t>
            </a:r>
            <a:endParaRPr lang="en-US" altLang="en-US" sz="2400" dirty="0" smtClean="0">
              <a:latin typeface="Arial Unicode MS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 err="1" smtClean="0">
                <a:latin typeface="Arial Unicode MS"/>
              </a:rPr>
              <a:t>Array.Resize</a:t>
            </a:r>
            <a:r>
              <a:rPr lang="en-US" altLang="en-US" sz="2400" dirty="0" smtClean="0">
                <a:latin typeface="Arial Unicode MS"/>
              </a:rPr>
              <a:t>(ref </a:t>
            </a:r>
            <a:r>
              <a:rPr lang="en-US" altLang="en-US" sz="2400" dirty="0">
                <a:latin typeface="Arial Unicode MS"/>
              </a:rPr>
              <a:t>students, 5); </a:t>
            </a:r>
            <a:endParaRPr lang="en-US" altLang="en-US" sz="48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1867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Strings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2400" dirty="0"/>
              <a:t>Strings store text</a:t>
            </a:r>
            <a:r>
              <a:rPr lang="en-US" sz="2400" dirty="0" smtClean="0"/>
              <a:t>.</a:t>
            </a:r>
          </a:p>
          <a:p>
            <a:pPr algn="just">
              <a:lnSpc>
                <a:spcPct val="120000"/>
              </a:lnSpc>
            </a:pPr>
            <a:r>
              <a:rPr lang="en-US" sz="2300" dirty="0"/>
              <a:t>string name = </a:t>
            </a:r>
            <a:r>
              <a:rPr lang="en-US" sz="2300" dirty="0" smtClean="0"/>
              <a:t>“</a:t>
            </a:r>
            <a:r>
              <a:rPr lang="en-US" sz="2300" dirty="0" err="1" smtClean="0"/>
              <a:t>Abebe</a:t>
            </a:r>
            <a:r>
              <a:rPr lang="en-US" sz="2300" dirty="0" smtClean="0"/>
              <a:t>";</a:t>
            </a:r>
            <a:endParaRPr lang="en-US" sz="2300" dirty="0"/>
          </a:p>
          <a:p>
            <a:pPr algn="just">
              <a:lnSpc>
                <a:spcPct val="120000"/>
              </a:lnSpc>
            </a:pPr>
            <a:r>
              <a:rPr lang="en-US" sz="2300" dirty="0" err="1"/>
              <a:t>Console.WriteLine</a:t>
            </a:r>
            <a:r>
              <a:rPr lang="en-US" sz="2300" dirty="0"/>
              <a:t>(</a:t>
            </a:r>
            <a:r>
              <a:rPr lang="en-US" sz="2300" dirty="0" err="1"/>
              <a:t>name.ToUpper</a:t>
            </a:r>
            <a:r>
              <a:rPr lang="en-US" sz="2300" dirty="0"/>
              <a:t>());</a:t>
            </a:r>
          </a:p>
          <a:p>
            <a:r>
              <a:rPr lang="en-US" sz="2400" dirty="0"/>
              <a:t>Common methods:</a:t>
            </a:r>
          </a:p>
          <a:p>
            <a:pPr lvl="1"/>
            <a:r>
              <a:rPr lang="en-US" sz="2000" dirty="0"/>
              <a:t>Length</a:t>
            </a:r>
          </a:p>
          <a:p>
            <a:pPr lvl="1"/>
            <a:r>
              <a:rPr lang="en-US" sz="2000" dirty="0" err="1"/>
              <a:t>ToUpper</a:t>
            </a:r>
            <a:r>
              <a:rPr lang="en-US" sz="2000" dirty="0"/>
              <a:t>()</a:t>
            </a:r>
          </a:p>
          <a:p>
            <a:pPr lvl="1"/>
            <a:r>
              <a:rPr lang="en-US" sz="2000" dirty="0" err="1"/>
              <a:t>ToLower</a:t>
            </a:r>
            <a:r>
              <a:rPr lang="en-US" sz="2000" dirty="0"/>
              <a:t>()</a:t>
            </a:r>
          </a:p>
          <a:p>
            <a:pPr lvl="1"/>
            <a:r>
              <a:rPr lang="en-US" sz="2000" dirty="0"/>
              <a:t>Contains()</a:t>
            </a:r>
          </a:p>
          <a:p>
            <a:pPr lvl="1"/>
            <a:r>
              <a:rPr lang="en-US" sz="2000" dirty="0"/>
              <a:t>Substring()</a:t>
            </a:r>
          </a:p>
          <a:p>
            <a:pPr algn="just">
              <a:lnSpc>
                <a:spcPct val="120000"/>
              </a:lnSpc>
            </a:pPr>
            <a:endParaRPr lang="en-US" sz="23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5679687" y="1366223"/>
            <a:ext cx="6096000" cy="48613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Methods:</a:t>
            </a:r>
          </a:p>
          <a:p>
            <a:pPr marL="515938" lvl="1" indent="-227013" algn="just"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Gets the number of characters</a:t>
            </a:r>
          </a:p>
          <a:p>
            <a:pPr marL="515938" lvl="1" indent="-227013" algn="just">
              <a:lnSpc>
                <a:spcPct val="12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ToUpper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to uppercase</a:t>
            </a:r>
          </a:p>
          <a:p>
            <a:pPr marL="515938" lvl="1" indent="-227013" algn="just">
              <a:lnSpc>
                <a:spcPct val="12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ToLower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to lowercase</a:t>
            </a:r>
          </a:p>
          <a:p>
            <a:pPr marL="515938" lvl="1" indent="-227013" algn="just"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Contains("Hello"):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if substring exists</a:t>
            </a:r>
          </a:p>
          <a:p>
            <a:pPr marL="515938" lvl="1" indent="-227013" algn="just">
              <a:lnSpc>
                <a:spcPct val="12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IndexOf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("World"):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index of substring</a:t>
            </a:r>
          </a:p>
          <a:p>
            <a:pPr marL="515938" lvl="1" indent="-227013" algn="just"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Replace("World", "C#"):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text</a:t>
            </a:r>
          </a:p>
          <a:p>
            <a:pPr marL="515938" lvl="1" indent="-227013" algn="just"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Substring(0, 5):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part of the string</a:t>
            </a:r>
          </a:p>
          <a:p>
            <a:pPr marL="515938" lvl="1" indent="-227013" algn="just"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Trim():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whitespace from both ends</a:t>
            </a:r>
          </a:p>
          <a:p>
            <a:pPr marL="515938" lvl="1" indent="-227013" algn="just">
              <a:lnSpc>
                <a:spcPct val="12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two or more strings into a single new string.</a:t>
            </a:r>
          </a:p>
          <a:p>
            <a:pPr marL="515938" lvl="1" indent="-227013" algn="just">
              <a:lnSpc>
                <a:spcPct val="12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StartsWith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()/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EndsWith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the string begins/ends with the specified substring.</a:t>
            </a:r>
          </a:p>
        </p:txBody>
      </p:sp>
    </p:spTree>
    <p:extLst>
      <p:ext uri="{BB962C8B-B14F-4D97-AF65-F5344CB8AC3E}">
        <p14:creationId xmlns:p14="http://schemas.microsoft.com/office/powerpoint/2010/main" val="19620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BE241CB-42D3-8970-84D8-B85061D72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F32B8201-C022-CADF-CF26-D1EF650EE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8"/>
            <a:ext cx="10515600" cy="603110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Functions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C66A92CA-02F5-DB82-7FEB-BFABB42A4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877" y="855407"/>
            <a:ext cx="11503742" cy="5676556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2400" dirty="0"/>
              <a:t>A function (method) is a block of code that performs a specific task.</a:t>
            </a:r>
          </a:p>
          <a:p>
            <a:pPr algn="just">
              <a:lnSpc>
                <a:spcPct val="120000"/>
              </a:lnSpc>
            </a:pPr>
            <a:r>
              <a:rPr lang="en-US" sz="2400" dirty="0"/>
              <a:t>Functions improve code reusability, readability, and maintainability.</a:t>
            </a:r>
          </a:p>
          <a:p>
            <a:pPr algn="just">
              <a:lnSpc>
                <a:spcPct val="120000"/>
              </a:lnSpc>
            </a:pPr>
            <a:r>
              <a:rPr lang="en-US" sz="2400" dirty="0"/>
              <a:t>In C#, functions are usually called methods because they belong to a class.</a:t>
            </a:r>
          </a:p>
          <a:p>
            <a:pPr algn="just">
              <a:lnSpc>
                <a:spcPct val="120000"/>
              </a:lnSpc>
            </a:pPr>
            <a:r>
              <a:rPr lang="en-US" sz="2400" b="1" dirty="0"/>
              <a:t>In C#, a function, also called a method, typically has:</a:t>
            </a:r>
          </a:p>
          <a:p>
            <a:pPr lvl="1" algn="just">
              <a:lnSpc>
                <a:spcPct val="120000"/>
              </a:lnSpc>
            </a:pPr>
            <a:r>
              <a:rPr lang="en-US" sz="1900" b="1" dirty="0"/>
              <a:t>Function Name: </a:t>
            </a:r>
            <a:r>
              <a:rPr lang="en-US" sz="1900" dirty="0"/>
              <a:t>Identifies the method(Mandatory).</a:t>
            </a:r>
          </a:p>
          <a:p>
            <a:pPr lvl="1" algn="just">
              <a:lnSpc>
                <a:spcPct val="120000"/>
              </a:lnSpc>
            </a:pPr>
            <a:r>
              <a:rPr lang="en-US" sz="1900" b="1" dirty="0"/>
              <a:t>Parameter List: </a:t>
            </a:r>
            <a:r>
              <a:rPr lang="en-US" sz="1900" dirty="0"/>
              <a:t>Defines inputs (0 or more) (Optional).</a:t>
            </a:r>
          </a:p>
          <a:p>
            <a:pPr lvl="1" algn="just">
              <a:lnSpc>
                <a:spcPct val="120000"/>
              </a:lnSpc>
            </a:pPr>
            <a:r>
              <a:rPr lang="en-US" sz="1900" b="1" dirty="0"/>
              <a:t>Return Type: </a:t>
            </a:r>
            <a:r>
              <a:rPr lang="en-US" sz="1900" dirty="0"/>
              <a:t>Defines the type of value returned (Mandatory). Use void if no value is returned.</a:t>
            </a:r>
          </a:p>
          <a:p>
            <a:pPr lvl="1" algn="just">
              <a:lnSpc>
                <a:spcPct val="120000"/>
              </a:lnSpc>
            </a:pPr>
            <a:r>
              <a:rPr lang="en-US" sz="1900" b="1" dirty="0"/>
              <a:t>Access Specifier: </a:t>
            </a:r>
            <a:r>
              <a:rPr lang="en-US" sz="1900" dirty="0"/>
              <a:t>Controls accessibility (public, private, protected) (Optional).</a:t>
            </a:r>
          </a:p>
          <a:p>
            <a:pPr lvl="1" algn="just">
              <a:lnSpc>
                <a:spcPct val="120000"/>
              </a:lnSpc>
            </a:pPr>
            <a:r>
              <a:rPr lang="en-US" sz="1900" b="1" dirty="0"/>
              <a:t>Modifier: </a:t>
            </a:r>
            <a:r>
              <a:rPr lang="en-US" sz="1900" dirty="0"/>
              <a:t>Defines behavior (static, virtual, sealed, partial) (Optional).</a:t>
            </a:r>
          </a:p>
          <a:p>
            <a:pPr lvl="1" algn="just">
              <a:lnSpc>
                <a:spcPct val="120000"/>
              </a:lnSpc>
            </a:pPr>
            <a:r>
              <a:rPr lang="en-US" sz="1900" b="1" dirty="0"/>
              <a:t>Function Body: </a:t>
            </a:r>
            <a:r>
              <a:rPr lang="en-US" sz="1900" dirty="0"/>
              <a:t>Contains the code to execute, enclosed in { }.</a:t>
            </a:r>
          </a:p>
          <a:p>
            <a:pPr algn="just">
              <a:lnSpc>
                <a:spcPct val="120000"/>
              </a:lnSpc>
            </a:pP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F76A0AF-0A32-3873-7AD7-52E23861ED66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B581A0AB-06B3-CB4E-9A28-190439D6803C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214EDFCB-3BD4-6C63-7F07-19B20395114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8CA7DD7D-D5BE-F96D-25CA-D615D307EF58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9D47C53-E3A3-5142-92F7-F0A03C44EC31}"/>
              </a:ext>
            </a:extLst>
          </p:cNvPr>
          <p:cNvSpPr txBox="1"/>
          <p:nvPr/>
        </p:nvSpPr>
        <p:spPr>
          <a:xfrm>
            <a:off x="1680881" y="5615653"/>
            <a:ext cx="7364507" cy="113877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access_modifier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] [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return_type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] [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function_name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]([parameters])</a:t>
            </a:r>
          </a:p>
          <a:p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   // Function body</a:t>
            </a:r>
          </a:p>
          <a:p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5870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Methods (Functions)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2400" dirty="0"/>
              <a:t>A method is a reusable block of code</a:t>
            </a:r>
            <a:r>
              <a:rPr lang="en-US" sz="2400" dirty="0" smtClean="0"/>
              <a:t>.</a:t>
            </a:r>
          </a:p>
          <a:p>
            <a:pPr algn="just">
              <a:lnSpc>
                <a:spcPct val="120000"/>
              </a:lnSpc>
            </a:pPr>
            <a:endParaRPr lang="en-US" sz="2400" dirty="0"/>
          </a:p>
          <a:p>
            <a:pPr algn="just">
              <a:lnSpc>
                <a:spcPct val="120000"/>
              </a:lnSpc>
            </a:pPr>
            <a:endParaRPr lang="en-US" sz="2400" dirty="0" smtClean="0"/>
          </a:p>
          <a:p>
            <a:pPr algn="just">
              <a:lnSpc>
                <a:spcPct val="120000"/>
              </a:lnSpc>
            </a:pPr>
            <a:endParaRPr lang="en-US" sz="2400" dirty="0"/>
          </a:p>
          <a:p>
            <a:pPr algn="just">
              <a:lnSpc>
                <a:spcPct val="120000"/>
              </a:lnSpc>
            </a:pPr>
            <a:r>
              <a:rPr lang="en-US" sz="2400" dirty="0"/>
              <a:t>Calling method:</a:t>
            </a:r>
            <a:endParaRPr lang="en-US" sz="2400" dirty="0" smtClean="0"/>
          </a:p>
          <a:p>
            <a:pPr algn="just">
              <a:lnSpc>
                <a:spcPct val="120000"/>
              </a:lnSpc>
            </a:pPr>
            <a:endParaRPr lang="en-US" sz="23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2557346" y="1551193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static </a:t>
            </a:r>
            <a:r>
              <a:rPr lang="en-US" sz="2400" dirty="0" err="1"/>
              <a:t>int</a:t>
            </a:r>
            <a:r>
              <a:rPr lang="en-US" sz="2400" dirty="0"/>
              <a:t> Add(</a:t>
            </a:r>
            <a:r>
              <a:rPr lang="en-US" sz="2400" dirty="0" err="1"/>
              <a:t>int</a:t>
            </a:r>
            <a:r>
              <a:rPr lang="en-US" sz="2400" dirty="0"/>
              <a:t> a, </a:t>
            </a:r>
            <a:r>
              <a:rPr lang="en-US" sz="2400" dirty="0" err="1"/>
              <a:t>int</a:t>
            </a:r>
            <a:r>
              <a:rPr lang="en-US" sz="2400" dirty="0"/>
              <a:t> b)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return a + b;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3694381" y="3357244"/>
            <a:ext cx="31325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int</a:t>
            </a:r>
            <a:r>
              <a:rPr lang="en-US" sz="2400" dirty="0"/>
              <a:t> result = Add(3,4);</a:t>
            </a:r>
          </a:p>
        </p:txBody>
      </p:sp>
    </p:spTree>
    <p:extLst>
      <p:ext uri="{BB962C8B-B14F-4D97-AF65-F5344CB8AC3E}">
        <p14:creationId xmlns:p14="http://schemas.microsoft.com/office/powerpoint/2010/main" val="3333790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837885B-E001-3690-5FD4-6B2F6299B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D3B7B4B6-BBB3-0CD0-3039-B5E2087D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8"/>
            <a:ext cx="10515600" cy="435962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Functions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612019-4981-EC3A-AC91-38139FDAA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877" y="762000"/>
            <a:ext cx="11503742" cy="576996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sz="2400" b="1" dirty="0"/>
              <a:t>Function Signature</a:t>
            </a:r>
          </a:p>
          <a:p>
            <a:pPr lvl="1" algn="just">
              <a:lnSpc>
                <a:spcPct val="120000"/>
              </a:lnSpc>
            </a:pPr>
            <a:r>
              <a:rPr lang="en-US" sz="2000" dirty="0"/>
              <a:t>The combination of Function Name and Parameter List.</a:t>
            </a:r>
          </a:p>
          <a:p>
            <a:pPr lvl="1" algn="just">
              <a:lnSpc>
                <a:spcPct val="120000"/>
              </a:lnSpc>
            </a:pPr>
            <a:r>
              <a:rPr lang="en-US" sz="2000" dirty="0"/>
              <a:t>Note: Return type is not part of the signature.</a:t>
            </a:r>
          </a:p>
          <a:p>
            <a:pPr algn="just">
              <a:lnSpc>
                <a:spcPct val="120000"/>
              </a:lnSpc>
            </a:pPr>
            <a:r>
              <a:rPr lang="en-US" sz="2400" b="1" dirty="0"/>
              <a:t>Return Statement</a:t>
            </a:r>
          </a:p>
          <a:p>
            <a:pPr lvl="1" algn="just">
              <a:lnSpc>
                <a:spcPct val="120000"/>
              </a:lnSpc>
            </a:pPr>
            <a:r>
              <a:rPr lang="en-US" sz="1900" dirty="0"/>
              <a:t>Terminates the function execution.</a:t>
            </a:r>
          </a:p>
          <a:p>
            <a:pPr lvl="1" algn="just">
              <a:lnSpc>
                <a:spcPct val="120000"/>
              </a:lnSpc>
            </a:pPr>
            <a:r>
              <a:rPr lang="en-US" sz="1900" dirty="0"/>
              <a:t>Returns a value to the calling function (if required).</a:t>
            </a:r>
          </a:p>
          <a:p>
            <a:pPr lvl="1" algn="just">
              <a:lnSpc>
                <a:spcPct val="120000"/>
              </a:lnSpc>
            </a:pPr>
            <a:r>
              <a:rPr lang="en-US" sz="1900" dirty="0"/>
              <a:t>Control returns to the point immediately after the function call.</a:t>
            </a:r>
          </a:p>
          <a:p>
            <a:pPr algn="just">
              <a:lnSpc>
                <a:spcPct val="120000"/>
              </a:lnSpc>
            </a:pPr>
            <a:r>
              <a:rPr lang="en-US" sz="2400" b="1" dirty="0"/>
              <a:t>Calling a Function</a:t>
            </a:r>
          </a:p>
          <a:p>
            <a:pPr lvl="1" algn="just">
              <a:lnSpc>
                <a:spcPct val="120000"/>
              </a:lnSpc>
            </a:pPr>
            <a:r>
              <a:rPr lang="en-US" sz="1900" dirty="0"/>
              <a:t>Control transfers to the called function.</a:t>
            </a:r>
          </a:p>
          <a:p>
            <a:pPr lvl="1" algn="just">
              <a:lnSpc>
                <a:spcPct val="120000"/>
              </a:lnSpc>
            </a:pPr>
            <a:r>
              <a:rPr lang="en-US" sz="1900" dirty="0"/>
              <a:t>Returned value (if any) is stored in a variable or used directly.</a:t>
            </a:r>
          </a:p>
          <a:p>
            <a:pPr algn="just">
              <a:lnSpc>
                <a:spcPct val="120000"/>
              </a:lnSpc>
            </a:pPr>
            <a:r>
              <a:rPr lang="en-US" sz="2400" b="1" dirty="0"/>
              <a:t>Function completes when:</a:t>
            </a:r>
          </a:p>
          <a:p>
            <a:pPr lvl="1" algn="just">
              <a:lnSpc>
                <a:spcPct val="120000"/>
              </a:lnSpc>
            </a:pPr>
            <a:r>
              <a:rPr lang="en-US" sz="2000" dirty="0"/>
              <a:t>return statement is executed.</a:t>
            </a:r>
          </a:p>
          <a:p>
            <a:pPr lvl="1" algn="just">
              <a:lnSpc>
                <a:spcPct val="120000"/>
              </a:lnSpc>
            </a:pPr>
            <a:r>
              <a:rPr lang="en-US" sz="2000" dirty="0"/>
              <a:t>Closing brace } of the function is reached.</a:t>
            </a:r>
          </a:p>
          <a:p>
            <a:pPr lvl="1" algn="just">
              <a:lnSpc>
                <a:spcPct val="120000"/>
              </a:lnSpc>
            </a:pPr>
            <a:r>
              <a:rPr lang="en-US" sz="2000" dirty="0"/>
              <a:t>An unhandled exception occurs.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4562FD5E-1A99-1E57-C786-560BC26FD37D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6A35AFC-D2AC-D682-4AE6-7EF056E2FAD7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2F48452E-2E68-24DA-FA24-4AB66CE6A993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C8832CCC-A513-CCD9-ED51-EFFDFD0595B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 descr="A white background with text and numbers">
            <a:extLst>
              <a:ext uri="{FF2B5EF4-FFF2-40B4-BE49-F238E27FC236}">
                <a16:creationId xmlns:a16="http://schemas.microsoft.com/office/drawing/2014/main" xmlns="" id="{D10D8F10-1EED-874B-F0F3-BDC4875B9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2377" y="427477"/>
            <a:ext cx="4218791" cy="2001957"/>
          </a:xfrm>
          <a:prstGeom prst="rect">
            <a:avLst/>
          </a:prstGeom>
        </p:spPr>
      </p:pic>
      <p:pic>
        <p:nvPicPr>
          <p:cNvPr id="6" name="Picture 5" descr="A computer code with red lines and blue text">
            <a:extLst>
              <a:ext uri="{FF2B5EF4-FFF2-40B4-BE49-F238E27FC236}">
                <a16:creationId xmlns:a16="http://schemas.microsoft.com/office/drawing/2014/main" xmlns="" id="{E50AE258-3070-4CF7-E3A3-9C41E9226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794" y="3726757"/>
            <a:ext cx="4871099" cy="280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22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A98850-5D4A-CC80-0CD3-481D2C9B5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4B8D07F6-A3A9-5C75-0420-2054A9FF7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8"/>
            <a:ext cx="10515600" cy="603110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Functions: </a:t>
            </a:r>
            <a:r>
              <a:rPr lang="en-US" sz="2800" dirty="0"/>
              <a:t>Types of Functions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ECCA005A-6A5F-5131-CC8C-F72157D50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877" y="855407"/>
            <a:ext cx="11503742" cy="567655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Built-in Functions: </a:t>
            </a:r>
            <a:r>
              <a:rPr lang="en-US" sz="2400" dirty="0"/>
              <a:t>Functions already defined by .NET /.NET framework.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It is already tested and optimized, saves development time, and is reliable and widely used.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It cannot customize beyond the function's original purpose.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Examples: </a:t>
            </a:r>
            <a:r>
              <a:rPr lang="en-US" dirty="0" err="1"/>
              <a:t>Console.WriteLine</a:t>
            </a:r>
            <a:r>
              <a:rPr lang="en-US" dirty="0"/>
              <a:t>(), </a:t>
            </a:r>
            <a:r>
              <a:rPr lang="en-US" dirty="0" err="1"/>
              <a:t>Math.Sqrt</a:t>
            </a:r>
            <a:r>
              <a:rPr lang="en-US" dirty="0"/>
              <a:t>(), </a:t>
            </a:r>
            <a:r>
              <a:rPr lang="en-US" dirty="0" err="1"/>
              <a:t>String.Length</a:t>
            </a:r>
            <a:r>
              <a:rPr lang="en-US" dirty="0"/>
              <a:t>().</a:t>
            </a:r>
            <a:endParaRPr lang="en-US" sz="2400" dirty="0"/>
          </a:p>
          <a:p>
            <a:pPr algn="just">
              <a:lnSpc>
                <a:spcPct val="120000"/>
              </a:lnSpc>
            </a:pPr>
            <a:endParaRPr lang="en-US" sz="2400" dirty="0"/>
          </a:p>
          <a:p>
            <a:pPr algn="just">
              <a:lnSpc>
                <a:spcPct val="120000"/>
              </a:lnSpc>
            </a:pP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F0DD5805-0CBF-E3AA-CA77-5E6DB6EBF1F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4D2CC4D1-B1CC-6EE9-1843-FE631A6B05D8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E4DFADF2-6611-4A6B-5224-C24C2696C208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7B6006E3-5DCD-A288-8847-14A6B54C0409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91038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D903E1A-E404-1CD6-25FD-2B4725EDD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932EBDF2-0C59-E288-41B3-92420B618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8"/>
            <a:ext cx="10515600" cy="603110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Functions: </a:t>
            </a:r>
            <a:r>
              <a:rPr lang="en-US" sz="2800" dirty="0"/>
              <a:t>Types of Functions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03CB45DA-3B8A-B244-2BB2-0AF87A134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877" y="855407"/>
            <a:ext cx="11503742" cy="5676556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2400" b="1" dirty="0"/>
              <a:t>User-defined Functions: </a:t>
            </a:r>
            <a:r>
              <a:rPr lang="en-US" sz="2400" dirty="0"/>
              <a:t>Created by the programmer to perform specific tasks.</a:t>
            </a:r>
          </a:p>
          <a:p>
            <a:pPr lvl="1" algn="just">
              <a:lnSpc>
                <a:spcPct val="120000"/>
              </a:lnSpc>
            </a:pPr>
            <a:r>
              <a:rPr lang="en-US" sz="1800" dirty="0"/>
              <a:t>Created by the programmer to perform specific tasks.</a:t>
            </a:r>
          </a:p>
          <a:p>
            <a:pPr lvl="1" algn="just">
              <a:lnSpc>
                <a:spcPct val="120000"/>
              </a:lnSpc>
            </a:pPr>
            <a:r>
              <a:rPr lang="en-US" sz="1800" dirty="0"/>
              <a:t>Reduces code duplication, improves readability, and optimizes program size.</a:t>
            </a:r>
          </a:p>
          <a:p>
            <a:pPr lvl="1" algn="just">
              <a:lnSpc>
                <a:spcPct val="120000"/>
              </a:lnSpc>
            </a:pPr>
            <a:r>
              <a:rPr lang="en-US" sz="1800" dirty="0"/>
              <a:t>Fully customizable according to project requirements.</a:t>
            </a:r>
          </a:p>
          <a:p>
            <a:pPr marL="860425" lvl="1" indent="0" algn="just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3333FF"/>
                </a:solidFill>
              </a:rPr>
              <a:t>public void </a:t>
            </a:r>
            <a:r>
              <a:rPr lang="en-US" sz="1800" i="1" dirty="0"/>
              <a:t>Greet() {  </a:t>
            </a:r>
          </a:p>
          <a:p>
            <a:pPr marL="860425" lvl="1" indent="0" algn="just">
              <a:lnSpc>
                <a:spcPct val="120000"/>
              </a:lnSpc>
              <a:buNone/>
            </a:pPr>
            <a:r>
              <a:rPr lang="en-US" sz="1800" i="1" dirty="0"/>
              <a:t>    </a:t>
            </a:r>
            <a:r>
              <a:rPr lang="en-US" sz="1800" i="1" dirty="0" err="1">
                <a:solidFill>
                  <a:srgbClr val="3333FF"/>
                </a:solidFill>
              </a:rPr>
              <a:t>Console.WriteLine</a:t>
            </a:r>
            <a:r>
              <a:rPr lang="en-US" sz="1800" i="1" dirty="0"/>
              <a:t>("Welcome!"); }</a:t>
            </a:r>
          </a:p>
          <a:p>
            <a:pPr algn="just">
              <a:lnSpc>
                <a:spcPct val="120000"/>
              </a:lnSpc>
            </a:pPr>
            <a:endParaRPr lang="en-US" sz="2400" dirty="0"/>
          </a:p>
          <a:p>
            <a:pPr algn="just">
              <a:lnSpc>
                <a:spcPct val="120000"/>
              </a:lnSpc>
            </a:pPr>
            <a:endParaRPr lang="en-US" sz="2400" dirty="0"/>
          </a:p>
          <a:p>
            <a:pPr algn="just">
              <a:lnSpc>
                <a:spcPct val="120000"/>
              </a:lnSpc>
            </a:pPr>
            <a:endParaRPr lang="en-US" sz="2400" dirty="0"/>
          </a:p>
          <a:p>
            <a:pPr algn="just">
              <a:lnSpc>
                <a:spcPct val="120000"/>
              </a:lnSpc>
            </a:pP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A4374475-4729-F2B7-2DBB-BA06D09CC085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555DEB3B-337F-F7CD-E443-04AEE09064BD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24F02AE4-29BE-A70B-7EF6-D45F7D463E82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A1ABF420-40D9-4F4A-36A2-8249A8C12167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 descr="A screenshot of a computer program">
            <a:extLst>
              <a:ext uri="{FF2B5EF4-FFF2-40B4-BE49-F238E27FC236}">
                <a16:creationId xmlns:a16="http://schemas.microsoft.com/office/drawing/2014/main" xmlns="" id="{B2BCC8BB-7951-4082-E636-C93034B4A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6158" y="2644185"/>
            <a:ext cx="6836735" cy="413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047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983339A-0FCB-A591-459A-0A322780C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42B7831-A782-AF94-5F9D-10029473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8"/>
            <a:ext cx="10515600" cy="603110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Functions: </a:t>
            </a:r>
            <a:r>
              <a:rPr lang="en-US" sz="2800" dirty="0"/>
              <a:t>Types of Functions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F1285989-97B9-F718-6A3E-975368721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877" y="855407"/>
            <a:ext cx="5927623" cy="5676556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2400" b="1" dirty="0"/>
              <a:t>Functions with Return Type: </a:t>
            </a:r>
          </a:p>
          <a:p>
            <a:pPr algn="just">
              <a:lnSpc>
                <a:spcPct val="120000"/>
              </a:lnSpc>
            </a:pPr>
            <a:r>
              <a:rPr lang="en-US" sz="2000" dirty="0"/>
              <a:t>Return a value to the caller.</a:t>
            </a:r>
          </a:p>
          <a:p>
            <a:pPr marL="457189" lvl="1" indent="0" algn="just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3333FF"/>
                </a:solidFill>
              </a:rPr>
              <a:t>public string </a:t>
            </a:r>
            <a:r>
              <a:rPr lang="en-US" sz="2000" i="1" dirty="0" err="1"/>
              <a:t>GetName</a:t>
            </a:r>
            <a:r>
              <a:rPr lang="en-US" sz="2000" i="1" dirty="0"/>
              <a:t>() {  </a:t>
            </a:r>
          </a:p>
          <a:p>
            <a:pPr marL="457189" lvl="1" indent="0" algn="just">
              <a:lnSpc>
                <a:spcPct val="120000"/>
              </a:lnSpc>
              <a:buNone/>
            </a:pPr>
            <a:r>
              <a:rPr lang="en-US" sz="2000" i="1" dirty="0"/>
              <a:t>    </a:t>
            </a:r>
            <a:r>
              <a:rPr lang="en-US" sz="2000" i="1" dirty="0">
                <a:solidFill>
                  <a:srgbClr val="3333FF"/>
                </a:solidFill>
              </a:rPr>
              <a:t>return</a:t>
            </a:r>
            <a:r>
              <a:rPr lang="en-US" sz="2000" i="1" dirty="0"/>
              <a:t> "Degu";  }</a:t>
            </a:r>
            <a:endParaRPr lang="en-US" sz="2400" b="1" dirty="0"/>
          </a:p>
          <a:p>
            <a:pPr algn="just">
              <a:lnSpc>
                <a:spcPct val="120000"/>
              </a:lnSpc>
            </a:pPr>
            <a:r>
              <a:rPr lang="en-US" sz="2400" b="1" dirty="0"/>
              <a:t>Parameterized Functions: </a:t>
            </a:r>
          </a:p>
          <a:p>
            <a:pPr algn="just">
              <a:lnSpc>
                <a:spcPct val="120000"/>
              </a:lnSpc>
            </a:pPr>
            <a:r>
              <a:rPr lang="en-US" sz="2000" dirty="0"/>
              <a:t>Functions that take inputs.</a:t>
            </a:r>
          </a:p>
          <a:p>
            <a:pPr marL="457189" lvl="1" indent="0" algn="just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3333FF"/>
                </a:solidFill>
              </a:rPr>
              <a:t>public int </a:t>
            </a:r>
            <a:r>
              <a:rPr lang="en-US" sz="2000" i="1" dirty="0"/>
              <a:t>Add(</a:t>
            </a:r>
            <a:r>
              <a:rPr lang="en-US" sz="2000" i="1" dirty="0">
                <a:solidFill>
                  <a:srgbClr val="3333FF"/>
                </a:solidFill>
              </a:rPr>
              <a:t>int</a:t>
            </a:r>
            <a:r>
              <a:rPr lang="en-US" sz="2000" i="1" dirty="0"/>
              <a:t> a, </a:t>
            </a:r>
            <a:r>
              <a:rPr lang="en-US" sz="2000" i="1" dirty="0">
                <a:solidFill>
                  <a:srgbClr val="3333FF"/>
                </a:solidFill>
              </a:rPr>
              <a:t>int</a:t>
            </a:r>
            <a:r>
              <a:rPr lang="en-US" sz="2000" i="1" dirty="0"/>
              <a:t> b)  {  </a:t>
            </a:r>
          </a:p>
          <a:p>
            <a:pPr marL="457189" lvl="1" indent="0" algn="just">
              <a:lnSpc>
                <a:spcPct val="120000"/>
              </a:lnSpc>
              <a:buNone/>
            </a:pPr>
            <a:r>
              <a:rPr lang="en-US" sz="2000" i="1" dirty="0"/>
              <a:t>    </a:t>
            </a:r>
            <a:r>
              <a:rPr lang="en-US" sz="2000" i="1" dirty="0">
                <a:solidFill>
                  <a:srgbClr val="3333FF"/>
                </a:solidFill>
              </a:rPr>
              <a:t>return</a:t>
            </a:r>
            <a:r>
              <a:rPr lang="en-US" sz="2000" i="1" dirty="0"/>
              <a:t> a + b;  }</a:t>
            </a:r>
          </a:p>
          <a:p>
            <a:pPr algn="just">
              <a:lnSpc>
                <a:spcPct val="120000"/>
              </a:lnSpc>
            </a:pPr>
            <a:r>
              <a:rPr lang="en-US" sz="2400" b="1" dirty="0"/>
              <a:t>Void Functions: </a:t>
            </a:r>
          </a:p>
          <a:p>
            <a:pPr algn="just">
              <a:lnSpc>
                <a:spcPct val="120000"/>
              </a:lnSpc>
            </a:pPr>
            <a:r>
              <a:rPr lang="en-US" sz="1900" dirty="0"/>
              <a:t>Perform an action but do not return a value.</a:t>
            </a:r>
          </a:p>
          <a:p>
            <a:pPr marL="457189" lvl="1" indent="0" algn="just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3333FF"/>
                </a:solidFill>
              </a:rPr>
              <a:t>public void </a:t>
            </a:r>
            <a:r>
              <a:rPr lang="en-US" sz="1800" i="1" dirty="0" err="1"/>
              <a:t>PMessage</a:t>
            </a:r>
            <a:r>
              <a:rPr lang="en-US" sz="1800" i="1" dirty="0"/>
              <a:t>()  {  </a:t>
            </a:r>
          </a:p>
          <a:p>
            <a:pPr marL="457189" lvl="1" indent="0" algn="just">
              <a:lnSpc>
                <a:spcPct val="120000"/>
              </a:lnSpc>
              <a:buNone/>
            </a:pPr>
            <a:r>
              <a:rPr lang="en-US" sz="1800" i="1" dirty="0"/>
              <a:t>    </a:t>
            </a:r>
            <a:r>
              <a:rPr lang="en-US" sz="1800" i="1" dirty="0" err="1">
                <a:solidFill>
                  <a:srgbClr val="3333FF"/>
                </a:solidFill>
              </a:rPr>
              <a:t>Console.WriteLine</a:t>
            </a:r>
            <a:r>
              <a:rPr lang="en-US" sz="1800" i="1" dirty="0"/>
              <a:t>("This is a void function");  }</a:t>
            </a:r>
          </a:p>
          <a:p>
            <a:pPr algn="just">
              <a:lnSpc>
                <a:spcPct val="120000"/>
              </a:lnSpc>
            </a:pPr>
            <a:endParaRPr lang="en-US" sz="2400" dirty="0"/>
          </a:p>
          <a:p>
            <a:pPr algn="just">
              <a:lnSpc>
                <a:spcPct val="120000"/>
              </a:lnSpc>
            </a:pPr>
            <a:endParaRPr lang="en-US" sz="2400" dirty="0"/>
          </a:p>
          <a:p>
            <a:pPr algn="just">
              <a:lnSpc>
                <a:spcPct val="120000"/>
              </a:lnSpc>
            </a:pPr>
            <a:endParaRPr lang="en-US" sz="2400" dirty="0"/>
          </a:p>
          <a:p>
            <a:pPr algn="just">
              <a:lnSpc>
                <a:spcPct val="120000"/>
              </a:lnSpc>
            </a:pP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21167ED5-905D-4030-027E-E5F499103D0D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08058AB2-7EEA-0782-81A1-74A597634B29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9A76FEFB-B63A-E556-480A-29FE2297803A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0CF6240B-1CEB-6342-C8A9-C591D717936E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 descr="A screenshot of a program&#10;&#10;AI-generated content may be incorrect.">
            <a:extLst>
              <a:ext uri="{FF2B5EF4-FFF2-40B4-BE49-F238E27FC236}">
                <a16:creationId xmlns:a16="http://schemas.microsoft.com/office/drawing/2014/main" xmlns="" id="{88BDBC5C-05C6-5CDD-3745-B1277A495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824" y="929148"/>
            <a:ext cx="6813176" cy="507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What is OOP?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69"/>
            <a:ext cx="11547986" cy="5812169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= Organizing code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contains: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(fields)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 (methods)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examples: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account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helps: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Reusability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6494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Class and Object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 lvl="0" algn="just" fontAlgn="base">
              <a:lnSpc>
                <a:spcPct val="120000"/>
              </a:lnSpc>
              <a:spcAft>
                <a:spcPct val="0"/>
              </a:spcAft>
            </a:pPr>
            <a:r>
              <a:rPr lang="en-US" altLang="en-US" sz="2400" dirty="0"/>
              <a:t>Class</a:t>
            </a:r>
          </a:p>
          <a:p>
            <a:pPr lvl="1" algn="just" fontAlgn="base">
              <a:lnSpc>
                <a:spcPct val="120000"/>
              </a:lnSpc>
              <a:spcAft>
                <a:spcPct val="0"/>
              </a:spcAft>
            </a:pPr>
            <a:r>
              <a:rPr lang="en-US" altLang="en-US" sz="2000" dirty="0"/>
              <a:t>Blueprint/template</a:t>
            </a:r>
          </a:p>
          <a:p>
            <a:pPr lvl="0" algn="just" fontAlgn="base">
              <a:lnSpc>
                <a:spcPct val="120000"/>
              </a:lnSpc>
              <a:spcAft>
                <a:spcPct val="0"/>
              </a:spcAft>
            </a:pPr>
            <a:r>
              <a:rPr lang="en-US" altLang="en-US" sz="2400" dirty="0"/>
              <a:t>Object</a:t>
            </a:r>
          </a:p>
          <a:p>
            <a:pPr lvl="1" algn="just" fontAlgn="base">
              <a:lnSpc>
                <a:spcPct val="120000"/>
              </a:lnSpc>
              <a:spcAft>
                <a:spcPct val="0"/>
              </a:spcAft>
            </a:pPr>
            <a:r>
              <a:rPr lang="en-US" altLang="en-US" sz="2000" dirty="0"/>
              <a:t>Instance of class</a:t>
            </a:r>
          </a:p>
          <a:p>
            <a:pPr lvl="0" algn="just" fontAlgn="base">
              <a:lnSpc>
                <a:spcPct val="120000"/>
              </a:lnSpc>
              <a:spcAft>
                <a:spcPct val="0"/>
              </a:spcAft>
            </a:pPr>
            <a:r>
              <a:rPr lang="en-US" altLang="en-US" sz="2400" dirty="0"/>
              <a:t>Example:</a:t>
            </a:r>
          </a:p>
          <a:p>
            <a:pPr algn="just">
              <a:lnSpc>
                <a:spcPct val="120000"/>
              </a:lnSpc>
            </a:pPr>
            <a:endParaRPr lang="en-US" sz="23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Rectangle 5"/>
          <p:cNvSpPr/>
          <p:nvPr/>
        </p:nvSpPr>
        <p:spPr>
          <a:xfrm>
            <a:off x="4274038" y="1919184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class Student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public string name;</a:t>
            </a:r>
          </a:p>
          <a:p>
            <a:r>
              <a:rPr lang="en-US" sz="2400" dirty="0"/>
              <a:t>    public </a:t>
            </a:r>
            <a:r>
              <a:rPr lang="en-US" sz="2400" dirty="0" err="1"/>
              <a:t>int</a:t>
            </a:r>
            <a:r>
              <a:rPr lang="en-US" sz="2400" dirty="0"/>
              <a:t> age;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4038" y="431645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Student s1 = new Student();</a:t>
            </a:r>
          </a:p>
          <a:p>
            <a:r>
              <a:rPr lang="en-US" sz="2400" dirty="0"/>
              <a:t>s1.name = "Abel";</a:t>
            </a:r>
          </a:p>
          <a:p>
            <a:r>
              <a:rPr lang="en-US" sz="2400" dirty="0"/>
              <a:t>s1.age = 20;</a:t>
            </a:r>
          </a:p>
        </p:txBody>
      </p:sp>
    </p:spTree>
    <p:extLst>
      <p:ext uri="{BB962C8B-B14F-4D97-AF65-F5344CB8AC3E}">
        <p14:creationId xmlns:p14="http://schemas.microsoft.com/office/powerpoint/2010/main" val="243469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Class Structure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r>
              <a:rPr lang="en-US" sz="2400" dirty="0"/>
              <a:t>Typical class contains:</a:t>
            </a:r>
          </a:p>
          <a:p>
            <a:pPr lvl="1"/>
            <a:r>
              <a:rPr lang="en-US" sz="2000" dirty="0"/>
              <a:t>Fields</a:t>
            </a:r>
          </a:p>
          <a:p>
            <a:pPr lvl="1"/>
            <a:r>
              <a:rPr lang="en-US" sz="2000" dirty="0"/>
              <a:t>Methods</a:t>
            </a:r>
          </a:p>
          <a:p>
            <a:pPr lvl="1"/>
            <a:r>
              <a:rPr lang="en-US" sz="2000" dirty="0"/>
              <a:t>Properties</a:t>
            </a:r>
          </a:p>
          <a:p>
            <a:pPr lvl="1"/>
            <a:r>
              <a:rPr lang="en-US" sz="2000" dirty="0"/>
              <a:t>Constructors</a:t>
            </a:r>
          </a:p>
          <a:p>
            <a:r>
              <a:rPr lang="en-US" sz="2400" dirty="0"/>
              <a:t>Example: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4386147" y="1773033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class Car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public string model;</a:t>
            </a:r>
          </a:p>
          <a:p>
            <a:r>
              <a:rPr lang="en-US" sz="2400" dirty="0"/>
              <a:t>    public void Show()</a:t>
            </a:r>
          </a:p>
          <a:p>
            <a:r>
              <a:rPr lang="en-US" sz="2400" dirty="0"/>
              <a:t>    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Console.WriteLine</a:t>
            </a:r>
            <a:r>
              <a:rPr lang="en-US" sz="2400" dirty="0"/>
              <a:t>(model);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419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Creating and Using Objects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 lnSpcReduction="10000"/>
          </a:bodyPr>
          <a:lstStyle/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→ blueprint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→ real instance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objects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c1 = new Car();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c2 = new Car();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383459" y="115842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c1 = new Car();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c1.model = "Toyota";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c1.Show();</a:t>
            </a:r>
          </a:p>
        </p:txBody>
      </p:sp>
    </p:spTree>
    <p:extLst>
      <p:ext uri="{BB962C8B-B14F-4D97-AF65-F5344CB8AC3E}">
        <p14:creationId xmlns:p14="http://schemas.microsoft.com/office/powerpoint/2010/main" val="221751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Encapsulation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/>
              <a:t>Encapsulation = protecting data.</a:t>
            </a:r>
          </a:p>
          <a:p>
            <a:pPr marL="0" lvl="0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Concepts:</a:t>
            </a:r>
          </a:p>
          <a:p>
            <a:pPr marL="457200" lvl="1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Hiding: Marking fields as private or protected to prevent direct modification from outside the class.</a:t>
            </a:r>
          </a:p>
          <a:p>
            <a:pPr marL="457200" lvl="1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Access: Exposing data only through well-defined Properties (getters/setters) or 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09876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Encapsulation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2462561" y="1282381"/>
            <a:ext cx="726687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class </a:t>
            </a:r>
            <a:r>
              <a:rPr lang="en-US" sz="2400" dirty="0" err="1"/>
              <a:t>BankAccount</a:t>
            </a:r>
            <a:endParaRPr lang="en-US" sz="2400" dirty="0"/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private double balance;</a:t>
            </a:r>
          </a:p>
          <a:p>
            <a:endParaRPr lang="en-US" sz="2400" dirty="0"/>
          </a:p>
          <a:p>
            <a:r>
              <a:rPr lang="en-US" sz="2400" dirty="0"/>
              <a:t>    public double Balance</a:t>
            </a:r>
          </a:p>
          <a:p>
            <a:r>
              <a:rPr lang="en-US" sz="2400" dirty="0"/>
              <a:t>    {</a:t>
            </a:r>
          </a:p>
          <a:p>
            <a:r>
              <a:rPr lang="en-US" sz="2400" dirty="0"/>
              <a:t>        get { return balance; }</a:t>
            </a:r>
          </a:p>
          <a:p>
            <a:r>
              <a:rPr lang="en-US" sz="2400" dirty="0"/>
              <a:t>        set { if(value &gt;= 0) balance = value; }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03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Why Encapsulation?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r>
              <a:rPr lang="en-US" sz="2400" dirty="0"/>
              <a:t>Benefits:</a:t>
            </a:r>
          </a:p>
          <a:p>
            <a:pPr lvl="1"/>
            <a:r>
              <a:rPr lang="en-US" sz="2000" dirty="0"/>
              <a:t>Data protection</a:t>
            </a:r>
          </a:p>
          <a:p>
            <a:pPr lvl="1"/>
            <a:r>
              <a:rPr lang="en-US" sz="2000" dirty="0"/>
              <a:t>Validation</a:t>
            </a:r>
          </a:p>
          <a:p>
            <a:pPr lvl="1"/>
            <a:r>
              <a:rPr lang="en-US" sz="2000" dirty="0"/>
              <a:t>Prevent invalid </a:t>
            </a:r>
            <a:r>
              <a:rPr lang="en-US" sz="2000" dirty="0" smtClean="0"/>
              <a:t>values</a:t>
            </a:r>
            <a:endParaRPr lang="en-US" sz="2000" dirty="0"/>
          </a:p>
          <a:p>
            <a:r>
              <a:rPr lang="en-US" sz="2400" dirty="0"/>
              <a:t>Without encapsulation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/>
              <a:t>balance = -1000 ❌</a:t>
            </a:r>
          </a:p>
          <a:p>
            <a:r>
              <a:rPr lang="en-US" sz="2400" dirty="0"/>
              <a:t>With encapsulation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/>
              <a:t>Blocked ✔</a:t>
            </a:r>
          </a:p>
          <a:p>
            <a:r>
              <a:rPr lang="en-US" sz="2400" dirty="0"/>
              <a:t>Important for:</a:t>
            </a:r>
          </a:p>
          <a:p>
            <a:pPr lvl="1"/>
            <a:r>
              <a:rPr lang="en-US" sz="2000" dirty="0"/>
              <a:t>Banking</a:t>
            </a:r>
          </a:p>
          <a:p>
            <a:pPr lvl="1"/>
            <a:r>
              <a:rPr lang="en-US" sz="2000" dirty="0"/>
              <a:t>Login systems</a:t>
            </a:r>
          </a:p>
          <a:p>
            <a:pPr lvl="1"/>
            <a:r>
              <a:rPr lang="en-US" sz="2000" dirty="0"/>
              <a:t>Event-based apps</a:t>
            </a:r>
          </a:p>
          <a:p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17630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Constructors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/>
              <a:t>Special </a:t>
            </a:r>
            <a:r>
              <a:rPr lang="en-US" sz="2400" dirty="0"/>
              <a:t>method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Same name as </a:t>
            </a:r>
            <a:r>
              <a:rPr lang="en-US" sz="2400" dirty="0" smtClean="0"/>
              <a:t>class</a:t>
            </a:r>
            <a:endParaRPr lang="en-US" altLang="en-US" sz="2200" dirty="0"/>
          </a:p>
          <a:p>
            <a:pPr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dirty="0"/>
              <a:t>No Return </a:t>
            </a:r>
            <a:r>
              <a:rPr lang="en-US" altLang="en-US" sz="2400" dirty="0" smtClean="0"/>
              <a:t>Type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Runs </a:t>
            </a:r>
            <a:r>
              <a:rPr lang="en-US" sz="2400" dirty="0"/>
              <a:t>when object created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6005559" y="1282381"/>
            <a:ext cx="423914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class Student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{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public string name;</a:t>
            </a:r>
          </a:p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public Student()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{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name = "Unknown";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}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802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Parameterized Constructor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3600" dirty="0" smtClean="0"/>
              <a:t>Default </a:t>
            </a:r>
            <a:r>
              <a:rPr lang="en-US" sz="3600" dirty="0"/>
              <a:t>(</a:t>
            </a:r>
            <a:r>
              <a:rPr lang="en-US" sz="3600" dirty="0" err="1"/>
              <a:t>Parameterless</a:t>
            </a:r>
            <a:r>
              <a:rPr lang="en-US" sz="3600" dirty="0"/>
              <a:t>): </a:t>
            </a:r>
            <a:endParaRPr lang="en-US" sz="3600" dirty="0" smtClean="0"/>
          </a:p>
          <a:p>
            <a:pPr lvl="1" algn="just">
              <a:lnSpc>
                <a:spcPct val="170000"/>
              </a:lnSpc>
            </a:pPr>
            <a:r>
              <a:rPr lang="en-US" sz="3100" dirty="0"/>
              <a:t>Provided by the compiler if none are </a:t>
            </a:r>
            <a:r>
              <a:rPr lang="en-US" sz="3100" dirty="0" smtClean="0"/>
              <a:t>defined.</a:t>
            </a:r>
          </a:p>
          <a:p>
            <a:pPr lvl="1" algn="just">
              <a:lnSpc>
                <a:spcPct val="170000"/>
              </a:lnSpc>
            </a:pPr>
            <a:r>
              <a:rPr lang="en-US" sz="3100" dirty="0" smtClean="0"/>
              <a:t>Initializes </a:t>
            </a:r>
            <a:r>
              <a:rPr lang="en-US" sz="3100" dirty="0"/>
              <a:t>fields to default values (0, null, or false).</a:t>
            </a:r>
          </a:p>
          <a:p>
            <a:pPr algn="just">
              <a:lnSpc>
                <a:spcPct val="170000"/>
              </a:lnSpc>
            </a:pPr>
            <a:r>
              <a:rPr lang="en-US" sz="3600" b="1" dirty="0"/>
              <a:t>Parameterized</a:t>
            </a:r>
            <a:r>
              <a:rPr lang="en-US" sz="3600" dirty="0"/>
              <a:t>: </a:t>
            </a:r>
            <a:endParaRPr lang="en-US" sz="3600" dirty="0" smtClean="0"/>
          </a:p>
          <a:p>
            <a:pPr lvl="1" algn="just">
              <a:lnSpc>
                <a:spcPct val="170000"/>
              </a:lnSpc>
            </a:pPr>
            <a:r>
              <a:rPr lang="en-US" sz="3100" dirty="0" smtClean="0"/>
              <a:t>Takes </a:t>
            </a:r>
            <a:r>
              <a:rPr lang="en-US" sz="3100" dirty="0"/>
              <a:t>arguments to assign custom values to fields</a:t>
            </a:r>
            <a:r>
              <a:rPr lang="en-US" sz="3600" dirty="0"/>
              <a:t> </a:t>
            </a:r>
            <a:endParaRPr lang="en-US" sz="3600" dirty="0" smtClean="0"/>
          </a:p>
          <a:p>
            <a:pPr marL="0" indent="0" algn="just">
              <a:lnSpc>
                <a:spcPct val="170000"/>
              </a:lnSpc>
              <a:buNone/>
            </a:pPr>
            <a:endParaRPr lang="en-US" sz="2300" dirty="0"/>
          </a:p>
          <a:p>
            <a:pPr marL="0" indent="0" algn="just">
              <a:lnSpc>
                <a:spcPct val="170000"/>
              </a:lnSpc>
              <a:buNone/>
            </a:pPr>
            <a:endParaRPr lang="en-US" sz="2400" dirty="0" smtClean="0"/>
          </a:p>
          <a:p>
            <a:pPr algn="just">
              <a:lnSpc>
                <a:spcPct val="170000"/>
              </a:lnSpc>
            </a:pPr>
            <a:r>
              <a:rPr lang="en-US" sz="4400" dirty="0" smtClean="0"/>
              <a:t>Create </a:t>
            </a:r>
            <a:r>
              <a:rPr lang="en-US" sz="4400" dirty="0"/>
              <a:t>object: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7313650" y="1282381"/>
            <a:ext cx="487835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class </a:t>
            </a:r>
            <a:r>
              <a:rPr lang="en-US" sz="2400" dirty="0" smtClean="0"/>
              <a:t>Student</a:t>
            </a:r>
            <a:endParaRPr lang="en-US" sz="2400" dirty="0"/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public string name;</a:t>
            </a:r>
          </a:p>
          <a:p>
            <a:r>
              <a:rPr lang="en-US" sz="2400" dirty="0"/>
              <a:t>    public </a:t>
            </a:r>
            <a:r>
              <a:rPr lang="en-US" sz="2400" dirty="0" err="1"/>
              <a:t>int</a:t>
            </a:r>
            <a:r>
              <a:rPr lang="en-US" sz="2400" dirty="0"/>
              <a:t> age;</a:t>
            </a:r>
          </a:p>
          <a:p>
            <a:r>
              <a:rPr lang="en-US" sz="2400" dirty="0" smtClean="0"/>
              <a:t>    public Student(string n, </a:t>
            </a:r>
            <a:r>
              <a:rPr lang="en-US" sz="2400" dirty="0" err="1"/>
              <a:t>int</a:t>
            </a:r>
            <a:r>
              <a:rPr lang="en-US" sz="2400" dirty="0"/>
              <a:t> a)</a:t>
            </a:r>
          </a:p>
          <a:p>
            <a:r>
              <a:rPr lang="en-US" sz="2400" dirty="0"/>
              <a:t>    {</a:t>
            </a:r>
          </a:p>
          <a:p>
            <a:r>
              <a:rPr lang="en-US" sz="2400" dirty="0"/>
              <a:t>        name = n;</a:t>
            </a:r>
          </a:p>
          <a:p>
            <a:r>
              <a:rPr lang="en-US" sz="2400" dirty="0"/>
              <a:t>        age = a;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6468567" y="5449100"/>
            <a:ext cx="53671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Student s = new Student("Sara",22);</a:t>
            </a:r>
          </a:p>
        </p:txBody>
      </p:sp>
    </p:spTree>
    <p:extLst>
      <p:ext uri="{BB962C8B-B14F-4D97-AF65-F5344CB8AC3E}">
        <p14:creationId xmlns:p14="http://schemas.microsoft.com/office/powerpoint/2010/main" val="174066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Method in Class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endParaRPr lang="en-US" sz="2300" dirty="0"/>
          </a:p>
          <a:p>
            <a:pPr algn="just">
              <a:lnSpc>
                <a:spcPct val="120000"/>
              </a:lnSpc>
            </a:pPr>
            <a:endParaRPr lang="en-US" sz="2300" dirty="0"/>
          </a:p>
          <a:p>
            <a:pPr algn="just">
              <a:lnSpc>
                <a:spcPct val="120000"/>
              </a:lnSpc>
            </a:pPr>
            <a:endParaRPr lang="en-US" sz="2300" dirty="0"/>
          </a:p>
          <a:p>
            <a:pPr algn="just">
              <a:lnSpc>
                <a:spcPct val="120000"/>
              </a:lnSpc>
            </a:pPr>
            <a:endParaRPr lang="en-US" sz="2300" dirty="0"/>
          </a:p>
          <a:p>
            <a:pPr algn="just">
              <a:lnSpc>
                <a:spcPct val="120000"/>
              </a:lnSpc>
            </a:pPr>
            <a:endParaRPr lang="en-US" sz="2300" dirty="0"/>
          </a:p>
          <a:p>
            <a:pPr algn="just">
              <a:lnSpc>
                <a:spcPct val="120000"/>
              </a:lnSpc>
            </a:pPr>
            <a:endParaRPr lang="en-US" sz="2300" dirty="0"/>
          </a:p>
          <a:p>
            <a:pPr algn="just">
              <a:lnSpc>
                <a:spcPct val="120000"/>
              </a:lnSpc>
            </a:pPr>
            <a:r>
              <a:rPr lang="en-US" sz="2400" dirty="0"/>
              <a:t>Use</a:t>
            </a:r>
            <a:r>
              <a:rPr lang="en-US" sz="2400" dirty="0" smtClean="0"/>
              <a:t>:</a:t>
            </a:r>
          </a:p>
          <a:p>
            <a:pPr algn="just">
              <a:lnSpc>
                <a:spcPct val="120000"/>
              </a:lnSpc>
            </a:pPr>
            <a:endParaRPr lang="en-US" sz="23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1916272" y="873642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class Calculator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public </a:t>
            </a:r>
            <a:r>
              <a:rPr lang="en-US" sz="2400" dirty="0" err="1"/>
              <a:t>int</a:t>
            </a:r>
            <a:r>
              <a:rPr lang="en-US" sz="2400" dirty="0"/>
              <a:t> Add(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a,int</a:t>
            </a:r>
            <a:r>
              <a:rPr lang="en-US" sz="2400" dirty="0"/>
              <a:t> b)</a:t>
            </a:r>
          </a:p>
          <a:p>
            <a:r>
              <a:rPr lang="en-US" sz="2400" dirty="0"/>
              <a:t>    {</a:t>
            </a:r>
          </a:p>
          <a:p>
            <a:r>
              <a:rPr lang="en-US" sz="2400" dirty="0"/>
              <a:t>        return </a:t>
            </a:r>
            <a:r>
              <a:rPr lang="en-US" sz="2400" dirty="0" err="1"/>
              <a:t>a+b</a:t>
            </a:r>
            <a:r>
              <a:rPr lang="en-US" sz="2400" dirty="0"/>
              <a:t>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1916272" y="4266342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Calculator c = new Calculator();</a:t>
            </a:r>
          </a:p>
          <a:p>
            <a:r>
              <a:rPr lang="en-US" sz="2400" dirty="0" err="1"/>
              <a:t>Console.WriteLine</a:t>
            </a:r>
            <a:r>
              <a:rPr lang="en-US" sz="2400" dirty="0"/>
              <a:t>(</a:t>
            </a:r>
            <a:r>
              <a:rPr lang="en-US" sz="2400" dirty="0" err="1"/>
              <a:t>c.Add</a:t>
            </a:r>
            <a:r>
              <a:rPr lang="en-US" sz="2400" dirty="0"/>
              <a:t>(3,4));</a:t>
            </a:r>
          </a:p>
        </p:txBody>
      </p:sp>
    </p:spTree>
    <p:extLst>
      <p:ext uri="{BB962C8B-B14F-4D97-AF65-F5344CB8AC3E}">
        <p14:creationId xmlns:p14="http://schemas.microsoft.com/office/powerpoint/2010/main" val="164420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EF9912F-C87C-E8C4-7ED5-0B0388388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E0C9F7DB-DFC1-6CA8-4D7C-84786843A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8"/>
            <a:ext cx="10515600" cy="603110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OOP: </a:t>
            </a:r>
            <a:r>
              <a:rPr lang="en-US" sz="2800" dirty="0"/>
              <a:t>Inheritance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36457905-3107-8E03-C820-8E453FB24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124" y="815915"/>
            <a:ext cx="8664157" cy="2331268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Inheritance allows a class to acquire fields and methods from another class, promoting code reuse.</a:t>
            </a:r>
          </a:p>
          <a:p>
            <a:pPr algn="just"/>
            <a:r>
              <a:rPr lang="en-US" sz="2200" b="1" dirty="0"/>
              <a:t>Base Class(Parent): </a:t>
            </a:r>
            <a:r>
              <a:rPr lang="en-US" sz="2200" dirty="0"/>
              <a:t>The class being inherited from.</a:t>
            </a:r>
          </a:p>
          <a:p>
            <a:pPr algn="just"/>
            <a:r>
              <a:rPr lang="en-US" sz="2200" b="1" dirty="0"/>
              <a:t>Derived Class(Child): </a:t>
            </a:r>
            <a:r>
              <a:rPr lang="en-US" sz="2200" dirty="0"/>
              <a:t>The class that inherits from the base class.</a:t>
            </a:r>
          </a:p>
          <a:p>
            <a:pPr algn="just"/>
            <a:r>
              <a:rPr lang="en-US" sz="2200" dirty="0"/>
              <a:t>It uses a </a:t>
            </a:r>
            <a:r>
              <a:rPr lang="en-US" sz="2200" dirty="0" smtClean="0"/>
              <a:t>colon</a:t>
            </a:r>
            <a:r>
              <a:rPr lang="en-US" sz="2200" dirty="0"/>
              <a:t>(:) to indicate inheritance</a:t>
            </a:r>
            <a:r>
              <a:rPr lang="en-US" sz="2400" dirty="0"/>
              <a:t>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3B74891D-4C26-7D4F-28A9-0A943CDC376B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186A92C-D1E0-1089-EA2E-849E69D85A6E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28FDB925-CBD1-7D53-4B9E-7C75418C0109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2E0FFE1B-5785-2B56-A9BB-22027F81E85E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314974FB-CC1A-6BA4-6A72-20D0E1DA56F3}"/>
              </a:ext>
            </a:extLst>
          </p:cNvPr>
          <p:cNvGrpSpPr/>
          <p:nvPr/>
        </p:nvGrpSpPr>
        <p:grpSpPr>
          <a:xfrm>
            <a:off x="506952" y="3809742"/>
            <a:ext cx="11245329" cy="2899525"/>
            <a:chOff x="441959" y="3119719"/>
            <a:chExt cx="11245329" cy="289952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0EF22818-47D4-BEB7-D0E1-AE74111E1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82" t="32679" r="185" b="22744"/>
            <a:stretch>
              <a:fillRect/>
            </a:stretch>
          </p:blipFill>
          <p:spPr>
            <a:xfrm>
              <a:off x="540714" y="3119719"/>
              <a:ext cx="11140068" cy="288547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D00A3DFE-A6EC-E7DE-FA58-15E66E30AB82}"/>
                </a:ext>
              </a:extLst>
            </p:cNvPr>
            <p:cNvSpPr txBox="1"/>
            <p:nvPr/>
          </p:nvSpPr>
          <p:spPr>
            <a:xfrm>
              <a:off x="441959" y="5649911"/>
              <a:ext cx="23967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Single Inheritance</a:t>
              </a:r>
              <a:r>
                <a:rPr lang="en-US" dirty="0">
                  <a:ln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00F73A76-E55B-70DB-D0AA-EDEC9F122DFF}"/>
                </a:ext>
              </a:extLst>
            </p:cNvPr>
            <p:cNvSpPr txBox="1"/>
            <p:nvPr/>
          </p:nvSpPr>
          <p:spPr>
            <a:xfrm>
              <a:off x="3108956" y="5649912"/>
              <a:ext cx="27360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Multi-level Inheritance</a:t>
              </a:r>
              <a:r>
                <a:rPr lang="en-US" dirty="0">
                  <a:ln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2D374D24-8C4F-C251-45A3-E0417FBA9741}"/>
                </a:ext>
              </a:extLst>
            </p:cNvPr>
            <p:cNvSpPr txBox="1"/>
            <p:nvPr/>
          </p:nvSpPr>
          <p:spPr>
            <a:xfrm>
              <a:off x="5890781" y="5649911"/>
              <a:ext cx="294333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Hierarchical Inheritance </a:t>
              </a:r>
              <a:endParaRPr lang="en-US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D40A54BC-809F-212D-58B6-E12B61C1AD6A}"/>
                </a:ext>
              </a:extLst>
            </p:cNvPr>
            <p:cNvSpPr txBox="1"/>
            <p:nvPr/>
          </p:nvSpPr>
          <p:spPr>
            <a:xfrm>
              <a:off x="9104344" y="5649911"/>
              <a:ext cx="25829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Multiple Inheritance</a:t>
              </a:r>
              <a:r>
                <a:rPr lang="en-US" dirty="0">
                  <a:ln>
                    <a:solidFill>
                      <a:schemeClr val="accent1">
                        <a:lumMod val="20000"/>
                        <a:lumOff val="80000"/>
                      </a:schemeClr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</p:grpSp>
      <p:pic>
        <p:nvPicPr>
          <p:cNvPr id="3" name="Picture 2" descr="A diagram of a public void display">
            <a:extLst>
              <a:ext uri="{FF2B5EF4-FFF2-40B4-BE49-F238E27FC236}">
                <a16:creationId xmlns:a16="http://schemas.microsoft.com/office/drawing/2014/main" xmlns="" id="{6801B93E-81F0-5D3D-09E1-410A018A2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057" y="648084"/>
            <a:ext cx="2881877" cy="2998870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6615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Inheritance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r>
              <a:rPr lang="en-US" sz="2400" dirty="0"/>
              <a:t>Inheritance allows reuse.</a:t>
            </a:r>
          </a:p>
          <a:p>
            <a:r>
              <a:rPr lang="en-US" sz="2400" dirty="0"/>
              <a:t>Parent class → base</a:t>
            </a:r>
            <a:br>
              <a:rPr lang="en-US" sz="2400" dirty="0"/>
            </a:br>
            <a:r>
              <a:rPr lang="en-US" sz="2400" dirty="0"/>
              <a:t>Child class → derived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4720683" y="1037713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class Animal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public void Eat()</a:t>
            </a:r>
          </a:p>
          <a:p>
            <a:r>
              <a:rPr lang="en-US" sz="2400" dirty="0"/>
              <a:t>    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Console.WriteLine</a:t>
            </a:r>
            <a:r>
              <a:rPr lang="en-US" sz="2400" dirty="0"/>
              <a:t>("Eating");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  <a:p>
            <a:r>
              <a:rPr lang="en-US" sz="2400" dirty="0"/>
              <a:t>class Dog : Animal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public void Bark()</a:t>
            </a:r>
          </a:p>
          <a:p>
            <a:r>
              <a:rPr lang="en-US" sz="2400" dirty="0"/>
              <a:t>    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Console.WriteLine</a:t>
            </a:r>
            <a:r>
              <a:rPr lang="en-US" sz="2400" dirty="0"/>
              <a:t>("Barking");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24896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Using Inheritance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Benefits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Code reuse</a:t>
            </a:r>
          </a:p>
          <a:p>
            <a:pPr lvl="1"/>
            <a:r>
              <a:rPr lang="en-US" sz="2000" dirty="0"/>
              <a:t>Cleaner structure</a:t>
            </a:r>
          </a:p>
          <a:p>
            <a:pPr lvl="1"/>
            <a:r>
              <a:rPr lang="en-US" sz="2000" dirty="0"/>
              <a:t>Extensibility</a:t>
            </a:r>
          </a:p>
          <a:p>
            <a:r>
              <a:rPr lang="en-US" sz="2400" dirty="0"/>
              <a:t>Used in UI frameworks and event systems.</a:t>
            </a:r>
          </a:p>
          <a:p>
            <a:pPr algn="just">
              <a:lnSpc>
                <a:spcPct val="120000"/>
              </a:lnSpc>
            </a:pPr>
            <a:endParaRPr lang="en-US" sz="23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7713941" y="1418672"/>
            <a:ext cx="36398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Dog d = new Dog();</a:t>
            </a:r>
          </a:p>
          <a:p>
            <a:r>
              <a:rPr lang="en-US" sz="2400" dirty="0" err="1"/>
              <a:t>d.Eat</a:t>
            </a:r>
            <a:r>
              <a:rPr lang="en-US" sz="2400" dirty="0"/>
              <a:t>();</a:t>
            </a:r>
          </a:p>
          <a:p>
            <a:r>
              <a:rPr lang="en-US" sz="2400" dirty="0" err="1"/>
              <a:t>d.Bark</a:t>
            </a:r>
            <a:r>
              <a:rPr lang="en-US" sz="24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03508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Polymorphism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69"/>
            <a:ext cx="11547986" cy="569386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en-US" dirty="0"/>
              <a:t> Polymorphism allows a single interface (method or property) to represent different underlying forms (data types or logic).</a:t>
            </a:r>
          </a:p>
          <a:p>
            <a:pPr>
              <a:lnSpc>
                <a:spcPct val="160000"/>
              </a:lnSpc>
            </a:pPr>
            <a:r>
              <a:rPr lang="en-US" b="1" dirty="0"/>
              <a:t>The Goal:</a:t>
            </a:r>
            <a:r>
              <a:rPr lang="en-US" dirty="0"/>
              <a:t> It enables you to write code that is more flexible, reusable, and easier to maintain by treating specialized objects as their general base types.</a:t>
            </a:r>
          </a:p>
          <a:p>
            <a:pPr>
              <a:lnSpc>
                <a:spcPct val="160000"/>
              </a:lnSpc>
            </a:pPr>
            <a:r>
              <a:rPr lang="en-US" b="1" dirty="0"/>
              <a:t>The Two Pillars in C#:</a:t>
            </a:r>
            <a:endParaRPr lang="en-US" dirty="0"/>
          </a:p>
          <a:p>
            <a:pPr lvl="1">
              <a:lnSpc>
                <a:spcPct val="160000"/>
              </a:lnSpc>
            </a:pPr>
            <a:r>
              <a:rPr lang="en-US" b="1" dirty="0"/>
              <a:t>Static (Compile-time):</a:t>
            </a:r>
            <a:r>
              <a:rPr lang="en-US" dirty="0"/>
              <a:t> Resolved by the compiler based on method signatures.</a:t>
            </a:r>
          </a:p>
          <a:p>
            <a:pPr lvl="1">
              <a:lnSpc>
                <a:spcPct val="160000"/>
              </a:lnSpc>
            </a:pPr>
            <a:r>
              <a:rPr lang="en-US" b="1" dirty="0"/>
              <a:t>Dynamic (Runtime):</a:t>
            </a:r>
            <a:r>
              <a:rPr lang="en-US" dirty="0"/>
              <a:t> Resolved by the CLR (Common Language Runtime) based on the actual object type.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40174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Static Polymorphism (Method Overloading)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77338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Resolved at Compile-time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In C#, static polymorphism is achieved through </a:t>
            </a:r>
            <a:r>
              <a:rPr lang="en-US" sz="2400" b="1" dirty="0"/>
              <a:t>Method Overloading</a:t>
            </a:r>
            <a:r>
              <a:rPr lang="en-US" sz="2400" dirty="0"/>
              <a:t>. 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dirty="0" smtClean="0"/>
              <a:t>This </a:t>
            </a:r>
            <a:r>
              <a:rPr lang="en-US" sz="2400" dirty="0"/>
              <a:t>occurs when multiple methods in the same class have </a:t>
            </a:r>
            <a:r>
              <a:rPr lang="en-US" sz="2400" dirty="0" smtClean="0"/>
              <a:t>the</a:t>
            </a:r>
            <a:r>
              <a:rPr lang="en-US" sz="2400" dirty="0"/>
              <a:t> </a:t>
            </a:r>
            <a:r>
              <a:rPr lang="en-US" sz="2400" b="1" dirty="0"/>
              <a:t>same name</a:t>
            </a:r>
            <a:r>
              <a:rPr lang="en-US" sz="2400" dirty="0"/>
              <a:t> but </a:t>
            </a:r>
            <a:r>
              <a:rPr lang="en-US" sz="2400" b="1" dirty="0"/>
              <a:t>different parameters</a:t>
            </a:r>
            <a:r>
              <a:rPr lang="en-US" sz="2400" dirty="0"/>
              <a:t> </a:t>
            </a:r>
            <a:endParaRPr lang="en-US" sz="2400" dirty="0" smtClean="0"/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(</a:t>
            </a:r>
            <a:r>
              <a:rPr lang="en-US" sz="2000" dirty="0"/>
              <a:t>type, number, or order).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The </a:t>
            </a:r>
            <a:r>
              <a:rPr lang="en-US" sz="2400" dirty="0"/>
              <a:t>compiler looks at the arguments passed during the call to decide which specific version of the method to trigger.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Example Code</a:t>
            </a:r>
            <a:r>
              <a:rPr lang="en-US" sz="2400" b="1" dirty="0" smtClean="0"/>
              <a:t>: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Arial Unicode MS"/>
              </a:rPr>
              <a:t>public </a:t>
            </a:r>
            <a:r>
              <a:rPr lang="en-US" altLang="en-US" sz="2400" dirty="0" err="1">
                <a:latin typeface="Arial Unicode MS"/>
              </a:rPr>
              <a:t>int</a:t>
            </a:r>
            <a:r>
              <a:rPr lang="en-US" altLang="en-US" sz="2400" dirty="0">
                <a:latin typeface="Arial Unicode MS"/>
              </a:rPr>
              <a:t> Add(</a:t>
            </a:r>
            <a:r>
              <a:rPr lang="en-US" altLang="en-US" sz="2400" dirty="0" err="1">
                <a:latin typeface="Arial Unicode MS"/>
              </a:rPr>
              <a:t>int</a:t>
            </a:r>
            <a:r>
              <a:rPr lang="en-US" altLang="en-US" sz="2400" dirty="0">
                <a:latin typeface="Arial Unicode MS"/>
              </a:rPr>
              <a:t> a, </a:t>
            </a:r>
            <a:r>
              <a:rPr lang="en-US" altLang="en-US" sz="2400" dirty="0" err="1">
                <a:latin typeface="Arial Unicode MS"/>
              </a:rPr>
              <a:t>int</a:t>
            </a:r>
            <a:r>
              <a:rPr lang="en-US" altLang="en-US" sz="2400" dirty="0">
                <a:latin typeface="Arial Unicode MS"/>
              </a:rPr>
              <a:t> b) =&gt; a + b;</a:t>
            </a:r>
            <a:r>
              <a:rPr lang="en-US" altLang="en-US" sz="2000" dirty="0"/>
              <a:t> </a:t>
            </a:r>
            <a:endParaRPr lang="en-US" altLang="en-US" sz="4800" dirty="0"/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Arial Unicode MS"/>
              </a:rPr>
              <a:t>public </a:t>
            </a:r>
            <a:r>
              <a:rPr lang="en-US" altLang="en-US" sz="2400" dirty="0" err="1">
                <a:latin typeface="Arial Unicode MS"/>
              </a:rPr>
              <a:t>int</a:t>
            </a:r>
            <a:r>
              <a:rPr lang="en-US" altLang="en-US" sz="2400" dirty="0">
                <a:latin typeface="Arial Unicode MS"/>
              </a:rPr>
              <a:t> Add(</a:t>
            </a:r>
            <a:r>
              <a:rPr lang="en-US" altLang="en-US" sz="2400" dirty="0" err="1">
                <a:latin typeface="Arial Unicode MS"/>
              </a:rPr>
              <a:t>int</a:t>
            </a:r>
            <a:r>
              <a:rPr lang="en-US" altLang="en-US" sz="2400" dirty="0">
                <a:latin typeface="Arial Unicode MS"/>
              </a:rPr>
              <a:t> a, </a:t>
            </a:r>
            <a:r>
              <a:rPr lang="en-US" altLang="en-US" sz="2400" dirty="0" err="1">
                <a:latin typeface="Arial Unicode MS"/>
              </a:rPr>
              <a:t>int</a:t>
            </a:r>
            <a:r>
              <a:rPr lang="en-US" altLang="en-US" sz="2400" dirty="0">
                <a:latin typeface="Arial Unicode MS"/>
              </a:rPr>
              <a:t> b, </a:t>
            </a:r>
            <a:r>
              <a:rPr lang="en-US" altLang="en-US" sz="2400" dirty="0" err="1">
                <a:latin typeface="Arial Unicode MS"/>
              </a:rPr>
              <a:t>int</a:t>
            </a:r>
            <a:r>
              <a:rPr lang="en-US" altLang="en-US" sz="2400" dirty="0">
                <a:latin typeface="Arial Unicode MS"/>
              </a:rPr>
              <a:t> c) =&gt; a + b + c;</a:t>
            </a:r>
            <a:r>
              <a:rPr lang="en-US" altLang="en-US" sz="2000" dirty="0"/>
              <a:t> </a:t>
            </a:r>
            <a:endParaRPr lang="en-US" altLang="en-US" sz="4800" dirty="0"/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Arial Unicode MS"/>
              </a:rPr>
              <a:t>public double Add(double a, double b) =&gt; a + b;</a:t>
            </a:r>
            <a:r>
              <a:rPr lang="en-US" altLang="en-US" sz="2000" dirty="0"/>
              <a:t> </a:t>
            </a:r>
            <a:endParaRPr lang="en-US" altLang="en-US" sz="48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00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Dynamic Polymorphism (Method Overriding)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Resolved at Runtime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polymorphism occurs when a derived class provides a specific implementation of a method already defined in its base class. 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the 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override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keywords.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Mechanism: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Used in the Base Class to signal that a method 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be changed.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override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Used in the Derived Class to provide the new implementation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89785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Dynamic Polymorphism (Method Overriding)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733626"/>
          </a:xfrm>
        </p:spPr>
        <p:txBody>
          <a:bodyPr>
            <a:normAutofit fontScale="92500" lnSpcReduction="10000"/>
          </a:bodyPr>
          <a:lstStyle/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>
                <a:latin typeface="Arial Unicode MS"/>
              </a:rPr>
              <a:t>public class Animal { </a:t>
            </a:r>
            <a:endParaRPr lang="en-US" altLang="en-US" sz="2400" dirty="0" smtClean="0">
              <a:latin typeface="Arial Unicode MS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>
                <a:latin typeface="Arial Unicode MS"/>
              </a:rPr>
              <a:t>	</a:t>
            </a:r>
            <a:r>
              <a:rPr lang="en-US" altLang="en-US" sz="2400" dirty="0" smtClean="0">
                <a:latin typeface="Arial Unicode MS"/>
              </a:rPr>
              <a:t>public </a:t>
            </a:r>
            <a:r>
              <a:rPr lang="en-US" altLang="en-US" sz="2400" dirty="0">
                <a:latin typeface="Arial Unicode MS"/>
              </a:rPr>
              <a:t>virtual void Speak() =&gt; </a:t>
            </a:r>
            <a:r>
              <a:rPr lang="en-US" altLang="en-US" sz="2400" dirty="0" err="1">
                <a:latin typeface="Arial Unicode MS"/>
              </a:rPr>
              <a:t>Console.WriteLine</a:t>
            </a:r>
            <a:r>
              <a:rPr lang="en-US" altLang="en-US" sz="2400" dirty="0">
                <a:latin typeface="Arial Unicode MS"/>
              </a:rPr>
              <a:t>("Animal makes a sound"); </a:t>
            </a:r>
            <a:endParaRPr lang="en-US" altLang="en-US" sz="2400" dirty="0" smtClean="0">
              <a:latin typeface="Arial Unicode MS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 smtClean="0">
                <a:latin typeface="Arial Unicode MS"/>
              </a:rPr>
              <a:t>}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 smtClean="0">
                <a:latin typeface="Arial Unicode MS"/>
              </a:rPr>
              <a:t>public </a:t>
            </a:r>
            <a:r>
              <a:rPr lang="en-US" altLang="en-US" sz="2400" dirty="0">
                <a:latin typeface="Arial Unicode MS"/>
              </a:rPr>
              <a:t>class Dog : Animal </a:t>
            </a:r>
            <a:endParaRPr lang="en-US" altLang="en-US" sz="2400" dirty="0" smtClean="0">
              <a:latin typeface="Arial Unicode MS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 smtClean="0">
                <a:latin typeface="Arial Unicode MS"/>
              </a:rPr>
              <a:t>{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>
                <a:latin typeface="Arial Unicode MS"/>
              </a:rPr>
              <a:t>	</a:t>
            </a:r>
            <a:r>
              <a:rPr lang="en-US" altLang="en-US" sz="2400" dirty="0" smtClean="0">
                <a:latin typeface="Arial Unicode MS"/>
              </a:rPr>
              <a:t>public </a:t>
            </a:r>
            <a:r>
              <a:rPr lang="en-US" altLang="en-US" sz="2400" dirty="0">
                <a:latin typeface="Arial Unicode MS"/>
              </a:rPr>
              <a:t>override void Speak() =&gt; </a:t>
            </a:r>
            <a:r>
              <a:rPr lang="en-US" altLang="en-US" sz="2400" dirty="0" err="1">
                <a:latin typeface="Arial Unicode MS"/>
              </a:rPr>
              <a:t>Console.WriteLine</a:t>
            </a:r>
            <a:r>
              <a:rPr lang="en-US" altLang="en-US" sz="2400" dirty="0">
                <a:latin typeface="Arial Unicode MS"/>
              </a:rPr>
              <a:t>("Bark!"); </a:t>
            </a:r>
            <a:endParaRPr lang="en-US" altLang="en-US" sz="2400" dirty="0" smtClean="0">
              <a:latin typeface="Arial Unicode MS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 smtClean="0">
                <a:latin typeface="Arial Unicode MS"/>
              </a:rPr>
              <a:t>}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 smtClean="0">
                <a:latin typeface="Arial Unicode MS"/>
              </a:rPr>
              <a:t>public </a:t>
            </a:r>
            <a:r>
              <a:rPr lang="en-US" altLang="en-US" sz="2400" dirty="0">
                <a:latin typeface="Arial Unicode MS"/>
              </a:rPr>
              <a:t>class Cat : Animal { </a:t>
            </a:r>
            <a:endParaRPr lang="en-US" altLang="en-US" sz="2400" dirty="0" smtClean="0">
              <a:latin typeface="Arial Unicode MS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>
                <a:latin typeface="Arial Unicode MS"/>
              </a:rPr>
              <a:t>	</a:t>
            </a:r>
            <a:r>
              <a:rPr lang="en-US" altLang="en-US" sz="2400" dirty="0" smtClean="0">
                <a:latin typeface="Arial Unicode MS"/>
              </a:rPr>
              <a:t>public </a:t>
            </a:r>
            <a:r>
              <a:rPr lang="en-US" altLang="en-US" sz="2400" dirty="0">
                <a:latin typeface="Arial Unicode MS"/>
              </a:rPr>
              <a:t>override void Speak() =&gt; </a:t>
            </a:r>
            <a:r>
              <a:rPr lang="en-US" altLang="en-US" sz="2400" dirty="0" err="1">
                <a:latin typeface="Arial Unicode MS"/>
              </a:rPr>
              <a:t>Console.WriteLine</a:t>
            </a:r>
            <a:r>
              <a:rPr lang="en-US" altLang="en-US" sz="2400" dirty="0">
                <a:latin typeface="Arial Unicode MS"/>
              </a:rPr>
              <a:t>("Meow!"); </a:t>
            </a:r>
            <a:endParaRPr lang="en-US" altLang="en-US" sz="2400" dirty="0" smtClean="0">
              <a:latin typeface="Arial Unicode MS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 smtClean="0">
                <a:latin typeface="Arial Unicode MS"/>
              </a:rPr>
              <a:t>}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i="1" dirty="0" smtClean="0">
                <a:latin typeface="Arial Unicode MS"/>
              </a:rPr>
              <a:t>// </a:t>
            </a:r>
            <a:r>
              <a:rPr lang="en-US" altLang="en-US" sz="2400" i="1" dirty="0">
                <a:latin typeface="Arial Unicode MS"/>
              </a:rPr>
              <a:t>Usage:</a:t>
            </a:r>
            <a:r>
              <a:rPr lang="en-US" altLang="en-US" sz="2400" dirty="0">
                <a:latin typeface="Arial Unicode MS"/>
              </a:rPr>
              <a:t> </a:t>
            </a:r>
            <a:endParaRPr lang="en-US" altLang="en-US" sz="2400" dirty="0" smtClean="0">
              <a:latin typeface="Arial Unicode MS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 smtClean="0">
                <a:latin typeface="Arial Unicode MS"/>
              </a:rPr>
              <a:t>Animal </a:t>
            </a:r>
            <a:r>
              <a:rPr lang="en-US" altLang="en-US" sz="2400" dirty="0" err="1">
                <a:latin typeface="Arial Unicode MS"/>
              </a:rPr>
              <a:t>myPet</a:t>
            </a:r>
            <a:r>
              <a:rPr lang="en-US" altLang="en-US" sz="2400" dirty="0">
                <a:latin typeface="Arial Unicode MS"/>
              </a:rPr>
              <a:t> = new Dog(); </a:t>
            </a:r>
            <a:r>
              <a:rPr lang="en-US" altLang="en-US" sz="2400" dirty="0" err="1">
                <a:latin typeface="Arial Unicode MS"/>
              </a:rPr>
              <a:t>myPet.Speak</a:t>
            </a:r>
            <a:r>
              <a:rPr lang="en-US" altLang="en-US" sz="2400" dirty="0">
                <a:latin typeface="Arial Unicode MS"/>
              </a:rPr>
              <a:t>();</a:t>
            </a:r>
            <a:r>
              <a:rPr lang="en-US" altLang="en-US" sz="2000" dirty="0"/>
              <a:t> </a:t>
            </a:r>
            <a:endParaRPr lang="en-US" altLang="en-US" sz="48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9602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Abstract Classes and Methods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734110"/>
          </a:xfrm>
        </p:spPr>
        <p:txBody>
          <a:bodyPr>
            <a:normAutofit fontScale="92500" lnSpcReduction="10000"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+mj-lt"/>
              </a:rPr>
              <a:t>An</a:t>
            </a:r>
            <a:r>
              <a:rPr lang="en-US" altLang="en-US" sz="2400" dirty="0">
                <a:latin typeface="+mj-lt"/>
              </a:rPr>
              <a:t> </a:t>
            </a:r>
            <a:r>
              <a:rPr lang="en-US" altLang="en-US" sz="2400" b="1" dirty="0">
                <a:latin typeface="+mj-lt"/>
              </a:rPr>
              <a:t>abstract class</a:t>
            </a:r>
            <a:r>
              <a:rPr lang="en-US" altLang="en-US" sz="2400" dirty="0">
                <a:latin typeface="+mj-lt"/>
              </a:rPr>
              <a:t> is a "restricted" class that acts as a blueprint. </a:t>
            </a:r>
            <a:endParaRPr lang="en-US" altLang="en-US" sz="2400" dirty="0" smtClean="0">
              <a:latin typeface="+mj-lt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+mj-lt"/>
              </a:rPr>
              <a:t>It </a:t>
            </a:r>
            <a:r>
              <a:rPr lang="en-US" altLang="en-US" sz="2400" dirty="0">
                <a:latin typeface="+mj-lt"/>
              </a:rPr>
              <a:t>cannot be used to create objects directly (instantiate).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latin typeface="+mj-lt"/>
              </a:rPr>
              <a:t>Key Rules:</a:t>
            </a:r>
            <a:endParaRPr lang="en-US" altLang="en-US" sz="2400" dirty="0">
              <a:latin typeface="+mj-lt"/>
            </a:endParaRPr>
          </a:p>
          <a:p>
            <a:pPr marL="45720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latin typeface="+mj-lt"/>
              </a:rPr>
              <a:t>Instantiation:</a:t>
            </a:r>
            <a:r>
              <a:rPr lang="en-US" altLang="en-US" dirty="0">
                <a:latin typeface="+mj-lt"/>
              </a:rPr>
              <a:t> You cannot use new on an abstract class. </a:t>
            </a:r>
            <a:endParaRPr lang="en-US" altLang="en-US" dirty="0" smtClean="0">
              <a:latin typeface="+mj-lt"/>
            </a:endParaRPr>
          </a:p>
          <a:p>
            <a:pPr marL="914388" lvl="2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 smtClean="0">
                <a:latin typeface="+mj-lt"/>
              </a:rPr>
              <a:t>It </a:t>
            </a:r>
            <a:r>
              <a:rPr lang="en-US" altLang="en-US" dirty="0">
                <a:latin typeface="+mj-lt"/>
              </a:rPr>
              <a:t>must be inherited by a derived class.</a:t>
            </a:r>
          </a:p>
          <a:p>
            <a:pPr marL="45720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latin typeface="+mj-lt"/>
              </a:rPr>
              <a:t>Mixed Members:</a:t>
            </a:r>
            <a:r>
              <a:rPr lang="en-US" altLang="en-US" dirty="0">
                <a:latin typeface="+mj-lt"/>
              </a:rPr>
              <a:t> It can contain both </a:t>
            </a:r>
            <a:r>
              <a:rPr lang="en-US" altLang="en-US" b="1" dirty="0">
                <a:latin typeface="+mj-lt"/>
              </a:rPr>
              <a:t>abstract methods</a:t>
            </a:r>
            <a:r>
              <a:rPr lang="en-US" altLang="en-US" dirty="0">
                <a:latin typeface="+mj-lt"/>
              </a:rPr>
              <a:t> (no body) and </a:t>
            </a:r>
            <a:r>
              <a:rPr lang="en-US" altLang="en-US" b="1" dirty="0">
                <a:latin typeface="+mj-lt"/>
              </a:rPr>
              <a:t>regular methods</a:t>
            </a:r>
            <a:r>
              <a:rPr lang="en-US" altLang="en-US" dirty="0">
                <a:latin typeface="+mj-lt"/>
              </a:rPr>
              <a:t> (with implementation).</a:t>
            </a:r>
          </a:p>
          <a:p>
            <a:pPr marL="45720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latin typeface="+mj-lt"/>
              </a:rPr>
              <a:t>Abstract Methods:</a:t>
            </a:r>
            <a:r>
              <a:rPr lang="en-US" altLang="en-US" dirty="0">
                <a:latin typeface="+mj-lt"/>
              </a:rPr>
              <a:t> Must be declared inside an abstract class and have no body. </a:t>
            </a:r>
            <a:endParaRPr lang="en-US" altLang="en-US" dirty="0" smtClean="0">
              <a:latin typeface="+mj-lt"/>
            </a:endParaRPr>
          </a:p>
          <a:p>
            <a:pPr marL="914388" lvl="2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 smtClean="0">
                <a:latin typeface="+mj-lt"/>
              </a:rPr>
              <a:t>They </a:t>
            </a:r>
            <a:r>
              <a:rPr lang="en-US" altLang="en-US" dirty="0">
                <a:latin typeface="+mj-lt"/>
              </a:rPr>
              <a:t>end with a semicolon.</a:t>
            </a:r>
          </a:p>
          <a:p>
            <a:pPr marL="45720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latin typeface="+mj-lt"/>
              </a:rPr>
              <a:t>Implementation:</a:t>
            </a:r>
            <a:r>
              <a:rPr lang="en-US" altLang="en-US" dirty="0">
                <a:latin typeface="+mj-lt"/>
              </a:rPr>
              <a:t> Any non-abstract class inheriting from it </a:t>
            </a:r>
            <a:r>
              <a:rPr lang="en-US" altLang="en-US" b="1" dirty="0">
                <a:latin typeface="+mj-lt"/>
              </a:rPr>
              <a:t>must</a:t>
            </a:r>
            <a:r>
              <a:rPr lang="en-US" altLang="en-US" dirty="0">
                <a:latin typeface="+mj-lt"/>
              </a:rPr>
              <a:t> provide a body for all abstract methods using the override keyword</a:t>
            </a:r>
            <a:r>
              <a:rPr lang="en-US" altLang="en-US" dirty="0" smtClean="0">
                <a:latin typeface="+mj-lt"/>
              </a:rPr>
              <a:t>.</a:t>
            </a:r>
            <a:endParaRPr lang="en-US" altLang="en-US" dirty="0">
              <a:latin typeface="+mj-l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31311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Abstract Classes and Methods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734110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latin typeface="Arial Unicode MS"/>
              </a:rPr>
              <a:t>abstract class Shape { </a:t>
            </a:r>
            <a:endParaRPr lang="en-US" altLang="en-US" dirty="0" smtClean="0">
              <a:latin typeface="Arial Unicode MS"/>
            </a:endParaRPr>
          </a:p>
          <a:p>
            <a:pPr marL="457189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 smtClean="0">
                <a:latin typeface="Arial Unicode MS"/>
              </a:rPr>
              <a:t>public </a:t>
            </a:r>
            <a:r>
              <a:rPr lang="en-US" altLang="en-US" dirty="0">
                <a:latin typeface="Arial Unicode MS"/>
              </a:rPr>
              <a:t>string Color { get; set; } </a:t>
            </a:r>
            <a:r>
              <a:rPr lang="en-US" altLang="en-US" i="1" dirty="0" smtClean="0">
                <a:latin typeface="Arial Unicode MS"/>
              </a:rPr>
              <a:t>// </a:t>
            </a:r>
            <a:r>
              <a:rPr lang="en-US" altLang="en-US" i="1" dirty="0">
                <a:latin typeface="Arial Unicode MS"/>
              </a:rPr>
              <a:t>Field to hold state</a:t>
            </a:r>
            <a:r>
              <a:rPr lang="en-US" altLang="en-US" dirty="0">
                <a:latin typeface="Arial Unicode MS"/>
              </a:rPr>
              <a:t> </a:t>
            </a:r>
            <a:endParaRPr lang="en-US" altLang="en-US" dirty="0" smtClean="0">
              <a:latin typeface="Arial Unicode MS"/>
            </a:endParaRPr>
          </a:p>
          <a:p>
            <a:pPr marL="457189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 smtClean="0">
                <a:latin typeface="Arial Unicode MS"/>
              </a:rPr>
              <a:t>public </a:t>
            </a:r>
            <a:r>
              <a:rPr lang="en-US" altLang="en-US" dirty="0">
                <a:latin typeface="Arial Unicode MS"/>
              </a:rPr>
              <a:t>abstract double </a:t>
            </a:r>
            <a:r>
              <a:rPr lang="en-US" altLang="en-US" dirty="0" err="1">
                <a:latin typeface="Arial Unicode MS"/>
              </a:rPr>
              <a:t>GetArea</a:t>
            </a:r>
            <a:r>
              <a:rPr lang="en-US" altLang="en-US" dirty="0">
                <a:latin typeface="Arial Unicode MS"/>
              </a:rPr>
              <a:t>(); </a:t>
            </a:r>
            <a:r>
              <a:rPr lang="en-US" altLang="en-US" i="1" dirty="0">
                <a:latin typeface="Arial Unicode MS"/>
              </a:rPr>
              <a:t>// No implementation here</a:t>
            </a:r>
            <a:r>
              <a:rPr lang="en-US" altLang="en-US" dirty="0">
                <a:latin typeface="Arial Unicode MS"/>
              </a:rPr>
              <a:t> </a:t>
            </a:r>
            <a:endParaRPr lang="en-US" altLang="en-US" dirty="0" smtClean="0">
              <a:latin typeface="Arial Unicode MS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 smtClean="0">
                <a:latin typeface="Arial Unicode MS"/>
              </a:rPr>
              <a:t>}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 smtClean="0">
                <a:latin typeface="Arial Unicode MS"/>
              </a:rPr>
              <a:t>class </a:t>
            </a:r>
            <a:r>
              <a:rPr lang="en-US" altLang="en-US" dirty="0">
                <a:latin typeface="Arial Unicode MS"/>
              </a:rPr>
              <a:t>Circle : Shape { </a:t>
            </a:r>
            <a:endParaRPr lang="en-US" altLang="en-US" dirty="0" smtClean="0">
              <a:latin typeface="Arial Unicode MS"/>
            </a:endParaRPr>
          </a:p>
          <a:p>
            <a:pPr marL="457189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 smtClean="0">
                <a:latin typeface="Arial Unicode MS"/>
              </a:rPr>
              <a:t>public </a:t>
            </a:r>
            <a:r>
              <a:rPr lang="en-US" altLang="en-US" dirty="0">
                <a:latin typeface="Arial Unicode MS"/>
              </a:rPr>
              <a:t>double Radius { get; set; } </a:t>
            </a:r>
            <a:endParaRPr lang="en-US" altLang="en-US" dirty="0" smtClean="0">
              <a:latin typeface="Arial Unicode MS"/>
            </a:endParaRPr>
          </a:p>
          <a:p>
            <a:pPr marL="457189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 smtClean="0">
                <a:latin typeface="Arial Unicode MS"/>
              </a:rPr>
              <a:t>public </a:t>
            </a:r>
            <a:r>
              <a:rPr lang="en-US" altLang="en-US" dirty="0">
                <a:latin typeface="Arial Unicode MS"/>
              </a:rPr>
              <a:t>override double </a:t>
            </a:r>
            <a:r>
              <a:rPr lang="en-US" altLang="en-US" dirty="0" err="1">
                <a:latin typeface="Arial Unicode MS"/>
              </a:rPr>
              <a:t>GetArea</a:t>
            </a:r>
            <a:r>
              <a:rPr lang="en-US" altLang="en-US" dirty="0">
                <a:latin typeface="Arial Unicode MS"/>
              </a:rPr>
              <a:t>() =&gt; </a:t>
            </a:r>
            <a:r>
              <a:rPr lang="en-US" altLang="en-US" dirty="0" err="1">
                <a:latin typeface="Arial Unicode MS"/>
              </a:rPr>
              <a:t>Math.PI</a:t>
            </a:r>
            <a:r>
              <a:rPr lang="en-US" altLang="en-US" dirty="0">
                <a:latin typeface="Arial Unicode MS"/>
              </a:rPr>
              <a:t> * Radius * Radius; </a:t>
            </a:r>
            <a:endParaRPr lang="en-US" altLang="en-US" dirty="0" smtClean="0">
              <a:latin typeface="Arial Unicode MS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 smtClean="0">
                <a:latin typeface="Arial Unicode MS"/>
              </a:rPr>
              <a:t>}</a:t>
            </a:r>
            <a:r>
              <a:rPr lang="en-US" altLang="en-US" dirty="0" smtClean="0"/>
              <a:t> </a:t>
            </a:r>
            <a:endParaRPr lang="en-US" alt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49858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Delegate Definition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 </a:t>
            </a:r>
            <a:r>
              <a:rPr lang="en-US" b="1" dirty="0"/>
              <a:t>delegate</a:t>
            </a:r>
            <a:r>
              <a:rPr lang="en-US" dirty="0"/>
              <a:t> is a </a:t>
            </a:r>
            <a:r>
              <a:rPr lang="en-US" b="1" dirty="0"/>
              <a:t>type-safe reference to a method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Meaning: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It stores the address of a method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But only methods with the </a:t>
            </a:r>
            <a:r>
              <a:rPr lang="en-US" b="1" dirty="0"/>
              <a:t>same signature</a:t>
            </a:r>
            <a:r>
              <a:rPr lang="en-US" dirty="0"/>
              <a:t> (return type + parameters) can be assigned</a:t>
            </a:r>
          </a:p>
          <a:p>
            <a:pPr>
              <a:lnSpc>
                <a:spcPct val="150000"/>
              </a:lnSpc>
            </a:pPr>
            <a:r>
              <a:rPr lang="en-US" dirty="0"/>
              <a:t>Signature must match exactly.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5540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How to Use Delegates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6895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The Three-Step Process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To use a custom delegate, you follow these three steps: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Declaration:</a:t>
            </a:r>
            <a:r>
              <a:rPr lang="en-US" dirty="0"/>
              <a:t> Define the delegate's signature (return type and parameters).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Instantiation:</a:t>
            </a:r>
            <a:r>
              <a:rPr lang="en-US" dirty="0"/>
              <a:t> Create a delegate instance and point it to a specific method.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Invocation:</a:t>
            </a:r>
            <a:r>
              <a:rPr lang="en-US" dirty="0"/>
              <a:t> Call the delegate as if it were a normal method</a:t>
            </a:r>
            <a:r>
              <a:rPr lang="en-US" dirty="0" smtClean="0"/>
              <a:t>.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3975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// </a:t>
            </a:r>
            <a:r>
              <a:rPr lang="en-US" dirty="0"/>
              <a:t>1. </a:t>
            </a:r>
            <a:r>
              <a:rPr lang="en-US" dirty="0" smtClean="0"/>
              <a:t>Declaration</a:t>
            </a:r>
          </a:p>
          <a:p>
            <a:pPr marL="0" indent="0">
              <a:buNone/>
            </a:pPr>
            <a:r>
              <a:rPr lang="en-US" dirty="0" smtClean="0"/>
              <a:t>Public delegate </a:t>
            </a:r>
            <a:r>
              <a:rPr lang="en-US" dirty="0"/>
              <a:t>void </a:t>
            </a:r>
            <a:r>
              <a:rPr lang="en-US" dirty="0" err="1"/>
              <a:t>LogMessage</a:t>
            </a:r>
            <a:r>
              <a:rPr lang="en-US" dirty="0"/>
              <a:t>(string text);</a:t>
            </a:r>
          </a:p>
          <a:p>
            <a:pPr marL="0" indent="0">
              <a:buNone/>
            </a:pPr>
            <a:r>
              <a:rPr lang="en-US" dirty="0"/>
              <a:t>class Logger {    </a:t>
            </a:r>
          </a:p>
          <a:p>
            <a:pPr marL="0" indent="0">
              <a:buNone/>
            </a:pPr>
            <a:r>
              <a:rPr lang="en-US" dirty="0" smtClean="0"/>
              <a:t>	public </a:t>
            </a:r>
            <a:r>
              <a:rPr lang="en-US" dirty="0"/>
              <a:t>static void </a:t>
            </a:r>
            <a:r>
              <a:rPr lang="en-US" dirty="0" err="1"/>
              <a:t>ToConsole</a:t>
            </a:r>
            <a:r>
              <a:rPr lang="en-US" dirty="0"/>
              <a:t>(string </a:t>
            </a:r>
            <a:r>
              <a:rPr lang="en-US" dirty="0" err="1"/>
              <a:t>msg</a:t>
            </a:r>
            <a:r>
              <a:rPr lang="en-US" dirty="0"/>
              <a:t>) =&gt; </a:t>
            </a:r>
            <a:r>
              <a:rPr lang="en-US" dirty="0" err="1"/>
              <a:t>Console.WriteLine</a:t>
            </a:r>
            <a:r>
              <a:rPr lang="en-US" dirty="0"/>
              <a:t>(</a:t>
            </a:r>
            <a:r>
              <a:rPr lang="en-US" dirty="0" err="1"/>
              <a:t>msg</a:t>
            </a:r>
            <a:r>
              <a:rPr lang="en-US" dirty="0"/>
              <a:t>);    </a:t>
            </a:r>
          </a:p>
          <a:p>
            <a:pPr marL="0" indent="0">
              <a:buNone/>
            </a:pPr>
            <a:r>
              <a:rPr lang="en-US" dirty="0" smtClean="0"/>
              <a:t>	static </a:t>
            </a:r>
            <a:r>
              <a:rPr lang="en-US" dirty="0"/>
              <a:t>void Main() {        </a:t>
            </a:r>
          </a:p>
          <a:p>
            <a:pPr marL="0" indent="0">
              <a:buNone/>
            </a:pPr>
            <a:r>
              <a:rPr lang="en-US" dirty="0" smtClean="0"/>
              <a:t>	// </a:t>
            </a:r>
            <a:r>
              <a:rPr lang="en-US" dirty="0"/>
              <a:t>2. Instantiation (pointing to a method)        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LogMessage</a:t>
            </a:r>
            <a:r>
              <a:rPr lang="en-US" dirty="0" smtClean="0"/>
              <a:t> </a:t>
            </a:r>
            <a:r>
              <a:rPr lang="en-US" dirty="0"/>
              <a:t>log = </a:t>
            </a:r>
            <a:r>
              <a:rPr lang="en-US" dirty="0" err="1"/>
              <a:t>ToConsole</a:t>
            </a:r>
            <a:r>
              <a:rPr lang="en-US" dirty="0"/>
              <a:t>;        </a:t>
            </a:r>
          </a:p>
          <a:p>
            <a:pPr marL="0" indent="0">
              <a:buNone/>
            </a:pPr>
            <a:r>
              <a:rPr lang="en-US" dirty="0" smtClean="0"/>
              <a:t>	// </a:t>
            </a:r>
            <a:r>
              <a:rPr lang="en-US" dirty="0"/>
              <a:t>3. Invocation        </a:t>
            </a:r>
          </a:p>
          <a:p>
            <a:pPr marL="0" indent="0">
              <a:buNone/>
            </a:pPr>
            <a:r>
              <a:rPr lang="en-US" dirty="0" smtClean="0"/>
              <a:t>	log</a:t>
            </a:r>
            <a:r>
              <a:rPr lang="en-US" dirty="0"/>
              <a:t>("Hello, Delegates!");    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}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Delegate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810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using System</a:t>
            </a:r>
            <a:r>
              <a:rPr lang="en-US" sz="1800" dirty="0" smtClean="0"/>
              <a:t>;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delegate </a:t>
            </a:r>
            <a:r>
              <a:rPr lang="en-US" sz="1800" dirty="0" err="1"/>
              <a:t>int</a:t>
            </a:r>
            <a:r>
              <a:rPr lang="en-US" sz="1800" dirty="0"/>
              <a:t> Operation(</a:t>
            </a:r>
            <a:r>
              <a:rPr lang="en-US" sz="1800" dirty="0" err="1"/>
              <a:t>int</a:t>
            </a:r>
            <a:r>
              <a:rPr lang="en-US" sz="1800" dirty="0"/>
              <a:t> a, </a:t>
            </a:r>
            <a:r>
              <a:rPr lang="en-US" sz="1800" dirty="0" err="1"/>
              <a:t>int</a:t>
            </a:r>
            <a:r>
              <a:rPr lang="en-US" sz="1800" dirty="0"/>
              <a:t> b</a:t>
            </a:r>
            <a:r>
              <a:rPr lang="en-US" sz="1800" dirty="0" smtClean="0"/>
              <a:t>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class Program</a:t>
            </a:r>
          </a:p>
          <a:p>
            <a:pPr marL="0" indent="0">
              <a:buNone/>
            </a:pPr>
            <a:r>
              <a:rPr lang="en-US" sz="1800" dirty="0"/>
              <a:t>{</a:t>
            </a:r>
          </a:p>
          <a:p>
            <a:pPr marL="0" indent="0">
              <a:buNone/>
            </a:pPr>
            <a:r>
              <a:rPr lang="en-US" sz="1800" dirty="0"/>
              <a:t>    static </a:t>
            </a:r>
            <a:r>
              <a:rPr lang="en-US" sz="1800" dirty="0" err="1"/>
              <a:t>int</a:t>
            </a:r>
            <a:r>
              <a:rPr lang="en-US" sz="1800" dirty="0"/>
              <a:t> Add(</a:t>
            </a:r>
            <a:r>
              <a:rPr lang="en-US" sz="1800" dirty="0" err="1"/>
              <a:t>int</a:t>
            </a:r>
            <a:r>
              <a:rPr lang="en-US" sz="1800" dirty="0"/>
              <a:t> a, </a:t>
            </a:r>
            <a:r>
              <a:rPr lang="en-US" sz="1800" dirty="0" err="1"/>
              <a:t>int</a:t>
            </a:r>
            <a:r>
              <a:rPr lang="en-US" sz="1800" dirty="0"/>
              <a:t> b) =&gt; a + b;</a:t>
            </a:r>
          </a:p>
          <a:p>
            <a:pPr marL="0" indent="0">
              <a:buNone/>
            </a:pPr>
            <a:r>
              <a:rPr lang="en-US" sz="1800" dirty="0"/>
              <a:t>    static </a:t>
            </a:r>
            <a:r>
              <a:rPr lang="en-US" sz="1800" dirty="0" err="1"/>
              <a:t>int</a:t>
            </a:r>
            <a:r>
              <a:rPr lang="en-US" sz="1800" dirty="0"/>
              <a:t> Multiply(</a:t>
            </a:r>
            <a:r>
              <a:rPr lang="en-US" sz="1800" dirty="0" err="1"/>
              <a:t>int</a:t>
            </a:r>
            <a:r>
              <a:rPr lang="en-US" sz="1800" dirty="0"/>
              <a:t> a, </a:t>
            </a:r>
            <a:r>
              <a:rPr lang="en-US" sz="1800" dirty="0" err="1"/>
              <a:t>int</a:t>
            </a:r>
            <a:r>
              <a:rPr lang="en-US" sz="1800" dirty="0"/>
              <a:t> b) =&gt; a * b;</a:t>
            </a:r>
          </a:p>
          <a:p>
            <a:pPr marL="0" indent="0">
              <a:buNone/>
            </a:pPr>
            <a:r>
              <a:rPr lang="en-US" sz="1800" dirty="0"/>
              <a:t> </a:t>
            </a:r>
          </a:p>
          <a:p>
            <a:pPr marL="0" indent="0">
              <a:buNone/>
            </a:pPr>
            <a:r>
              <a:rPr lang="en-US" sz="1800" dirty="0"/>
              <a:t>    static void Main()</a:t>
            </a:r>
          </a:p>
          <a:p>
            <a:pPr marL="0" indent="0">
              <a:buNone/>
            </a:pPr>
            <a:r>
              <a:rPr lang="en-US" sz="1800" dirty="0"/>
              <a:t>    {</a:t>
            </a:r>
          </a:p>
          <a:p>
            <a:pPr marL="0" indent="0">
              <a:buNone/>
            </a:pPr>
            <a:r>
              <a:rPr lang="en-US" sz="1800" dirty="0"/>
              <a:t>        Operation op1 = Add;</a:t>
            </a:r>
          </a:p>
          <a:p>
            <a:pPr marL="0" indent="0">
              <a:buNone/>
            </a:pPr>
            <a:r>
              <a:rPr lang="en-US" sz="1800" dirty="0"/>
              <a:t>        </a:t>
            </a:r>
            <a:r>
              <a:rPr lang="en-US" sz="1800" dirty="0" err="1"/>
              <a:t>Console.WriteLine</a:t>
            </a:r>
            <a:r>
              <a:rPr lang="en-US" sz="1800" dirty="0"/>
              <a:t>("Add: " + op1(5, 2));</a:t>
            </a:r>
          </a:p>
          <a:p>
            <a:pPr marL="0" indent="0">
              <a:buNone/>
            </a:pPr>
            <a:r>
              <a:rPr lang="en-US" sz="1800" dirty="0"/>
              <a:t> </a:t>
            </a:r>
          </a:p>
          <a:p>
            <a:pPr marL="0" indent="0">
              <a:buNone/>
            </a:pPr>
            <a:r>
              <a:rPr lang="en-US" sz="1800" dirty="0"/>
              <a:t>        Operation op2 = Multiply;</a:t>
            </a:r>
          </a:p>
          <a:p>
            <a:pPr marL="0" indent="0">
              <a:buNone/>
            </a:pPr>
            <a:r>
              <a:rPr lang="en-US" sz="1800" dirty="0"/>
              <a:t>        </a:t>
            </a:r>
            <a:r>
              <a:rPr lang="en-US" sz="1800" dirty="0" err="1"/>
              <a:t>Console.WriteLine</a:t>
            </a:r>
            <a:r>
              <a:rPr lang="en-US" sz="1800" dirty="0"/>
              <a:t>("Multiply: " + op2(5, 2));</a:t>
            </a:r>
          </a:p>
          <a:p>
            <a:pPr marL="0" indent="0">
              <a:buNone/>
            </a:pPr>
            <a:r>
              <a:rPr lang="en-US" sz="1800" dirty="0"/>
              <a:t>    }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87408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Events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 lvl="0"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dirty="0" smtClean="0"/>
              <a:t>The </a:t>
            </a:r>
            <a:r>
              <a:rPr lang="en-US" altLang="en-US" sz="2400" dirty="0"/>
              <a:t>Publisher-Subscriber Pattern</a:t>
            </a:r>
          </a:p>
          <a:p>
            <a:pPr lvl="0"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dirty="0"/>
              <a:t>An Event is a notification sent by an object (Publisher) to signal the occurrence of an action to other objects (Subscribers).</a:t>
            </a:r>
          </a:p>
          <a:p>
            <a:pPr lvl="0"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dirty="0" smtClean="0"/>
              <a:t>The </a:t>
            </a:r>
            <a:r>
              <a:rPr lang="en-US" altLang="en-US" sz="2400" dirty="0"/>
              <a:t>Roles:</a:t>
            </a:r>
          </a:p>
          <a:p>
            <a:pPr marL="685782" lvl="2"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dirty="0"/>
              <a:t>Publisher: The class that contains the event. It decides when the event is raised.</a:t>
            </a:r>
          </a:p>
          <a:p>
            <a:pPr marL="685782" lvl="2"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dirty="0"/>
              <a:t>Subscriber: The class that "listens" for the event and provides a handler (method) to execute when the event occurs.</a:t>
            </a:r>
          </a:p>
          <a:p>
            <a:pPr lvl="0"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dirty="0"/>
              <a:t>The Keyword: We use the </a:t>
            </a:r>
            <a:r>
              <a:rPr lang="en-US" altLang="en-US" sz="2400" b="1" dirty="0"/>
              <a:t>event</a:t>
            </a:r>
            <a:r>
              <a:rPr lang="en-US" altLang="en-US" sz="2400" dirty="0"/>
              <a:t> keyword to wrap a delegate</a:t>
            </a:r>
            <a:r>
              <a:rPr lang="en-US" altLang="en-US" sz="2400" dirty="0" smtClean="0"/>
              <a:t>.</a:t>
            </a:r>
          </a:p>
          <a:p>
            <a:pPr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dirty="0"/>
              <a:t>A subscriber can only add (+=) or remove (-=) itself;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336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Even example</a:t>
            </a:r>
            <a:endParaRPr lang="en-US" sz="2800" dirty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6A0FBA1-CAFC-7D7E-6516-195CD5405D04}"/>
              </a:ext>
            </a:extLst>
          </p:cNvPr>
          <p:cNvSpPr txBox="1"/>
          <p:nvPr/>
        </p:nvSpPr>
        <p:spPr>
          <a:xfrm>
            <a:off x="300311" y="805340"/>
            <a:ext cx="6620437" cy="5816977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System;</a:t>
            </a: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BankAccount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//Step 1 Declare a delegate type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u="sng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delegate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BalanceChangedHandler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newBalance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//Step 2 Declare an event based on that delegate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u="sng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BalanceChangedHandler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BalanceChanged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balance;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Deposit(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amount)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balance += amount;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$"Deposited: 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{amount}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OnBalanceChanged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Withdraw(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amount)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(amount &lt;= balance)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balance -= amount;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$"Withdrawn: 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{amount}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OnBalanceChanged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"Insufficient funds!"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//Step 3 Protected method to raise the event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protected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virtual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OnBalanceChanged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BalanceChanged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?.Invoke(balance);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 }</a:t>
            </a:r>
          </a:p>
          <a:p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//Step 4 Subscriber class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SMSNotifier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SendSms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newBalance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$"[SMS] Your new balance is 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newBalance:</a:t>
            </a:r>
            <a:r>
              <a:rPr lang="en-US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 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3F72313-F730-60A5-A05A-54158A0EC030}"/>
              </a:ext>
            </a:extLst>
          </p:cNvPr>
          <p:cNvSpPr txBox="1"/>
          <p:nvPr/>
        </p:nvSpPr>
        <p:spPr>
          <a:xfrm>
            <a:off x="6983506" y="812606"/>
            <a:ext cx="5136778" cy="2677656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BankAccount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account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BankAccount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SMSNotifier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notifier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SMSNotifier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//Step 5 Subscribe to event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account.BalanceChanged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notifier.SendSms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account.Deposit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(1000);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account.Withdraw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(300);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74635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Namespaces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890890"/>
            <a:ext cx="11547986" cy="5933980"/>
          </a:xfrm>
        </p:spPr>
        <p:txBody>
          <a:bodyPr>
            <a:noAutofit/>
          </a:bodyPr>
          <a:lstStyle/>
          <a:p>
            <a:pPr lvl="0"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dirty="0" smtClean="0"/>
              <a:t>Logical </a:t>
            </a:r>
            <a:r>
              <a:rPr lang="en-US" altLang="en-US" sz="2400" dirty="0"/>
              <a:t>containers used to organize classes, interfaces, and other types into a hierarchical structure.</a:t>
            </a:r>
          </a:p>
          <a:p>
            <a:pPr lvl="0"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dirty="0"/>
              <a:t>Key Purposes:</a:t>
            </a:r>
          </a:p>
          <a:p>
            <a:pPr marL="685782" lvl="2"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b="1" dirty="0"/>
              <a:t>Avoid Naming Conflicts</a:t>
            </a:r>
            <a:r>
              <a:rPr lang="en-US" altLang="en-US" dirty="0"/>
              <a:t>: Allows different developers to use the same class names in different contexts without errors.</a:t>
            </a:r>
          </a:p>
          <a:p>
            <a:pPr marL="685782" lvl="2"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b="1" dirty="0"/>
              <a:t>Code Organization</a:t>
            </a:r>
            <a:r>
              <a:rPr lang="en-US" altLang="en-US" dirty="0"/>
              <a:t>: Groups related items together, making large projects easier to maintain and navigate.</a:t>
            </a:r>
          </a:p>
          <a:p>
            <a:pPr lvl="0"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400" dirty="0"/>
              <a:t>How to Declare:</a:t>
            </a:r>
          </a:p>
          <a:p>
            <a:pPr marL="685782" lvl="2" algn="just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dirty="0"/>
              <a:t>Use the namespace keyword followed by the name and curly braces</a:t>
            </a:r>
            <a:r>
              <a:rPr lang="en-US" altLang="en-US" dirty="0" smtClean="0"/>
              <a:t>.</a:t>
            </a:r>
            <a:endParaRPr lang="en-US" alt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1007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Namespaces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 lvl="0" algn="just" fontAlgn="base">
              <a:lnSpc>
                <a:spcPct val="120000"/>
              </a:lnSpc>
              <a:spcAft>
                <a:spcPct val="0"/>
              </a:spcAft>
            </a:pPr>
            <a:r>
              <a:rPr lang="en-US" altLang="en-US" sz="2400" dirty="0" smtClean="0"/>
              <a:t>How </a:t>
            </a:r>
            <a:r>
              <a:rPr lang="en-US" altLang="en-US" sz="2400" dirty="0"/>
              <a:t>to Use:</a:t>
            </a:r>
          </a:p>
          <a:p>
            <a:pPr marL="685782" lvl="2" algn="just" fontAlgn="base">
              <a:lnSpc>
                <a:spcPct val="120000"/>
              </a:lnSpc>
              <a:spcAft>
                <a:spcPct val="0"/>
              </a:spcAft>
            </a:pPr>
            <a:r>
              <a:rPr lang="en-US" altLang="en-US" dirty="0"/>
              <a:t>using Directive: Imports a namespace so you can use its types without typing the full path (e.g., using System;).</a:t>
            </a:r>
          </a:p>
          <a:p>
            <a:pPr marL="685782" lvl="2" algn="just" fontAlgn="base">
              <a:lnSpc>
                <a:spcPct val="120000"/>
              </a:lnSpc>
              <a:spcAft>
                <a:spcPct val="0"/>
              </a:spcAft>
            </a:pPr>
            <a:r>
              <a:rPr lang="en-US" altLang="en-US" dirty="0"/>
              <a:t>Fully Qualified Names: Reference a type directly using dot notation (e.g., </a:t>
            </a:r>
            <a:r>
              <a:rPr lang="en-US" altLang="en-US" dirty="0" err="1"/>
              <a:t>System.Console.WriteLine</a:t>
            </a:r>
            <a:r>
              <a:rPr lang="en-US" altLang="en-US" dirty="0"/>
              <a:t>()).</a:t>
            </a:r>
          </a:p>
          <a:p>
            <a:pPr lvl="0" algn="just" fontAlgn="base">
              <a:lnSpc>
                <a:spcPct val="120000"/>
              </a:lnSpc>
              <a:spcAft>
                <a:spcPct val="0"/>
              </a:spcAft>
            </a:pPr>
            <a:r>
              <a:rPr lang="en-US" altLang="en-US" sz="2400" dirty="0"/>
              <a:t>Standard Examples:</a:t>
            </a:r>
          </a:p>
          <a:p>
            <a:pPr marL="685782" lvl="2" algn="just" fontAlgn="base">
              <a:lnSpc>
                <a:spcPct val="120000"/>
              </a:lnSpc>
              <a:spcAft>
                <a:spcPct val="0"/>
              </a:spcAft>
            </a:pPr>
            <a:r>
              <a:rPr lang="en-US" altLang="en-US" dirty="0"/>
              <a:t>System: Basic system functions like Console.</a:t>
            </a:r>
          </a:p>
          <a:p>
            <a:pPr marL="685782" lvl="2" algn="just" fontAlgn="base">
              <a:lnSpc>
                <a:spcPct val="120000"/>
              </a:lnSpc>
              <a:spcAft>
                <a:spcPct val="0"/>
              </a:spcAft>
            </a:pPr>
            <a:r>
              <a:rPr lang="en-US" altLang="en-US" dirty="0" err="1"/>
              <a:t>System.Collections.Generic</a:t>
            </a:r>
            <a:r>
              <a:rPr lang="en-US" altLang="en-US" dirty="0"/>
              <a:t>: Contains the </a:t>
            </a:r>
            <a:r>
              <a:rPr lang="en-US" altLang="en-US" dirty="0">
                <a:hlinkClick r:id="rId2"/>
              </a:rPr>
              <a:t>C# List class</a:t>
            </a:r>
            <a:r>
              <a:rPr lang="en-US" altLang="en-US" dirty="0"/>
              <a:t> and other dynamic data structures. 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1594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Library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 lvl="0" algn="just" fontAlgn="base">
              <a:lnSpc>
                <a:spcPct val="120000"/>
              </a:lnSpc>
              <a:spcAft>
                <a:spcPct val="0"/>
              </a:spcAft>
            </a:pPr>
            <a:r>
              <a:rPr lang="en-US" altLang="en-US" sz="2300" dirty="0" smtClean="0"/>
              <a:t>A </a:t>
            </a:r>
            <a:r>
              <a:rPr lang="en-US" altLang="en-US" sz="2300" dirty="0"/>
              <a:t>project that compiles into a Dynamic Link Library (.</a:t>
            </a:r>
            <a:r>
              <a:rPr lang="en-US" altLang="en-US" sz="2300" dirty="0" err="1"/>
              <a:t>dll</a:t>
            </a:r>
            <a:r>
              <a:rPr lang="en-US" altLang="en-US" sz="2300" dirty="0"/>
              <a:t>) rather than an executable (.exe).</a:t>
            </a:r>
          </a:p>
          <a:p>
            <a:pPr lvl="0" algn="just" fontAlgn="base">
              <a:lnSpc>
                <a:spcPct val="120000"/>
              </a:lnSpc>
              <a:spcAft>
                <a:spcPct val="0"/>
              </a:spcAft>
            </a:pPr>
            <a:r>
              <a:rPr lang="en-US" altLang="en-US" sz="2300" b="1" dirty="0"/>
              <a:t>No Entry Point</a:t>
            </a:r>
            <a:r>
              <a:rPr lang="en-US" altLang="en-US" sz="2300" dirty="0"/>
              <a:t>: Unlike Console or Web apps, libraries do not have a Main() method; they cannot be run directly.</a:t>
            </a:r>
          </a:p>
          <a:p>
            <a:pPr lvl="0" algn="just" fontAlgn="base">
              <a:lnSpc>
                <a:spcPct val="120000"/>
              </a:lnSpc>
              <a:spcAft>
                <a:spcPct val="0"/>
              </a:spcAft>
            </a:pPr>
            <a:r>
              <a:rPr lang="en-US" altLang="en-US" sz="2300" b="1" dirty="0"/>
              <a:t>Primary Benefit</a:t>
            </a:r>
            <a:r>
              <a:rPr lang="en-US" altLang="en-US" sz="2300" dirty="0"/>
              <a:t>: Encourages code reuse and modularity by allowing you to write logic once and share it with many applications.</a:t>
            </a:r>
          </a:p>
          <a:p>
            <a:pPr lvl="0" algn="just" fontAlgn="base">
              <a:lnSpc>
                <a:spcPct val="120000"/>
              </a:lnSpc>
              <a:spcAft>
                <a:spcPct val="0"/>
              </a:spcAft>
            </a:pPr>
            <a:r>
              <a:rPr lang="en-US" altLang="en-US" sz="2300" dirty="0"/>
              <a:t>Physical Form: A library is physically an </a:t>
            </a:r>
            <a:r>
              <a:rPr lang="en-US" altLang="en-US" sz="2300" dirty="0">
                <a:hlinkClick r:id="rId2"/>
              </a:rPr>
              <a:t>Assembly</a:t>
            </a:r>
            <a:r>
              <a:rPr lang="en-US" altLang="en-US" sz="2300" dirty="0"/>
              <a:t>, which contains compiled CIL (Common Intermediate Language) code and metadata.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/>
          </a:p>
          <a:p>
            <a:pPr algn="just">
              <a:lnSpc>
                <a:spcPct val="120000"/>
              </a:lnSpc>
            </a:pPr>
            <a:endParaRPr lang="en-US" sz="23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92551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10876-4D5D-A827-344B-84B30190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C909D313-E5F0-6E39-D2BC-75F556A6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037"/>
            <a:ext cx="10515600" cy="6178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Creating and Using a </a:t>
            </a:r>
            <a:r>
              <a:rPr lang="en-US" dirty="0" smtClean="0"/>
              <a:t>Library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2329342-65EE-6102-0301-7CE884D1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945470"/>
            <a:ext cx="11547986" cy="5397578"/>
          </a:xfrm>
        </p:spPr>
        <p:txBody>
          <a:bodyPr>
            <a:normAutofit/>
          </a:bodyPr>
          <a:lstStyle/>
          <a:p>
            <a:pPr marL="457200" lvl="0" indent="-457200" algn="just" fontAlgn="base">
              <a:lnSpc>
                <a:spcPct val="15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 smtClean="0"/>
              <a:t>Create</a:t>
            </a:r>
            <a:r>
              <a:rPr lang="en-US" altLang="en-US" sz="2400" dirty="0"/>
              <a:t>: In Visual Studio, choose the Class Library project template.</a:t>
            </a:r>
          </a:p>
          <a:p>
            <a:pPr marL="457200" lvl="0" indent="-457200" algn="just" fontAlgn="base">
              <a:lnSpc>
                <a:spcPct val="15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/>
              <a:t>Code: Define public classes and methods (e.g., public class </a:t>
            </a:r>
            <a:r>
              <a:rPr lang="en-US" altLang="en-US" sz="2400" dirty="0" err="1"/>
              <a:t>MathUtils</a:t>
            </a:r>
            <a:r>
              <a:rPr lang="en-US" altLang="en-US" sz="2400" dirty="0"/>
              <a:t> { ... }).</a:t>
            </a:r>
          </a:p>
          <a:p>
            <a:pPr marL="457200" lvl="0" indent="-457200" algn="just" fontAlgn="base">
              <a:lnSpc>
                <a:spcPct val="15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/>
              <a:t>Build: Compile the project to generate the .</a:t>
            </a:r>
            <a:r>
              <a:rPr lang="en-US" altLang="en-US" sz="2400" dirty="0" err="1"/>
              <a:t>dll</a:t>
            </a:r>
            <a:r>
              <a:rPr lang="en-US" altLang="en-US" sz="2400" dirty="0"/>
              <a:t> file.</a:t>
            </a:r>
          </a:p>
          <a:p>
            <a:pPr marL="457200" lvl="0" indent="-457200" algn="just" fontAlgn="base">
              <a:lnSpc>
                <a:spcPct val="15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/>
              <a:t>Reference: In your main application, right-click Dependencies (or References) and select Add Project Reference or browse for the .</a:t>
            </a:r>
            <a:r>
              <a:rPr lang="en-US" altLang="en-US" sz="2400" dirty="0" err="1"/>
              <a:t>dll</a:t>
            </a:r>
            <a:r>
              <a:rPr lang="en-US" altLang="en-US" sz="2400" dirty="0"/>
              <a:t>.</a:t>
            </a:r>
          </a:p>
          <a:p>
            <a:pPr marL="457200" lvl="0" indent="-457200" algn="just" fontAlgn="base">
              <a:lnSpc>
                <a:spcPct val="15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/>
              <a:t>Consume: Use the using directive at the top of your file to access the library's namespace.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/>
          </a:p>
          <a:p>
            <a:pPr algn="just">
              <a:lnSpc>
                <a:spcPct val="120000"/>
              </a:lnSpc>
            </a:pPr>
            <a:endParaRPr lang="en-US" sz="23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0570278-82CF-D96E-3FE9-3218997C13E7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70813A2-CA2B-A124-641A-10A05701602A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B34B1C1-ED33-9F9B-6EC0-59EA96184C3D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50FBF56-8076-B426-64DB-23B52267A8F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4916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B53ABCF8-7119-4864-9B09-FF5E900BC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068" y="1533683"/>
            <a:ext cx="7057623" cy="1288244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Bookman Old Style" panose="02050604050505020204" pitchFamily="18" charset="0"/>
              </a:rPr>
              <a:t>Thank You!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xmlns="" id="{C7D6EE36-2FDF-45AA-924D-3F3CBE724B60}"/>
              </a:ext>
            </a:extLst>
          </p:cNvPr>
          <p:cNvSpPr txBox="1">
            <a:spLocks/>
          </p:cNvSpPr>
          <p:nvPr/>
        </p:nvSpPr>
        <p:spPr>
          <a:xfrm>
            <a:off x="3857619" y="2480369"/>
            <a:ext cx="3676522" cy="3566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800" dirty="0"/>
              <a:t>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24E6DC56-066B-A3BD-A7CD-E877C074E30B}"/>
              </a:ext>
            </a:extLst>
          </p:cNvPr>
          <p:cNvGrpSpPr/>
          <p:nvPr/>
        </p:nvGrpSpPr>
        <p:grpSpPr>
          <a:xfrm>
            <a:off x="237841" y="-17357"/>
            <a:ext cx="11954159" cy="356570"/>
            <a:chOff x="237841" y="-17357"/>
            <a:chExt cx="12006707" cy="35657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4B635D77-1789-FA3B-8C3E-77383A564C8D}"/>
                </a:ext>
              </a:extLst>
            </p:cNvPr>
            <p:cNvSpPr/>
            <p:nvPr/>
          </p:nvSpPr>
          <p:spPr>
            <a:xfrm>
              <a:off x="237841" y="-17357"/>
              <a:ext cx="4053939" cy="3506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23CE1619-EE25-7D02-410F-A2D15317EC08}"/>
                </a:ext>
              </a:extLst>
            </p:cNvPr>
            <p:cNvSpPr/>
            <p:nvPr/>
          </p:nvSpPr>
          <p:spPr>
            <a:xfrm>
              <a:off x="4291780" y="0"/>
              <a:ext cx="4041059" cy="3392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C12E371F-6E94-C8E2-1580-D65A402CD17B}"/>
                </a:ext>
              </a:extLst>
            </p:cNvPr>
            <p:cNvSpPr/>
            <p:nvPr/>
          </p:nvSpPr>
          <p:spPr>
            <a:xfrm>
              <a:off x="8332839" y="-12446"/>
              <a:ext cx="3911709" cy="3506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6908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Presentation level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tx2">
              <a:lumMod val="20000"/>
              <a:lumOff val="80000"/>
            </a:schemeClr>
          </a:solidFill>
        </a:ln>
      </a:spPr>
      <a:bodyPr wrap="none" rtlCol="0">
        <a:spAutoFit/>
      </a:bodyPr>
      <a:lstStyle>
        <a:defPPr>
          <a:defRPr dirty="0" err="1" smtClean="0">
            <a:ln>
              <a:solidFill>
                <a:schemeClr val="accent1">
                  <a:lumMod val="20000"/>
                  <a:lumOff val="80000"/>
                </a:schemeClr>
              </a:solidFill>
            </a:ln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 level design" id="{00E2FDB5-77A3-416C-8232-A2B8AB0B9A01}" vid="{6E3E8A63-E899-4F92-AFE5-C80B3CCFC0B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resentation level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tx2">
              <a:lumMod val="20000"/>
              <a:lumOff val="80000"/>
            </a:schemeClr>
          </a:solidFill>
        </a:ln>
      </a:spPr>
      <a:bodyPr wrap="none" rtlCol="0">
        <a:spAutoFit/>
      </a:bodyPr>
      <a:lstStyle>
        <a:defPPr>
          <a:defRPr dirty="0" err="1" smtClean="0">
            <a:ln>
              <a:solidFill>
                <a:schemeClr val="accent1">
                  <a:lumMod val="20000"/>
                  <a:lumOff val="80000"/>
                </a:schemeClr>
              </a:solidFill>
            </a:ln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 level design" id="{00E2FDB5-77A3-416C-8232-A2B8AB0B9A01}" vid="{6E3E8A63-E899-4F92-AFE5-C80B3CCFC0B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163AA760-FEA7-44E2-BB85-0893DB8CD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 Layout2</Template>
  <TotalTime>0</TotalTime>
  <Words>2119</Words>
  <Application>Microsoft Office PowerPoint</Application>
  <PresentationFormat>Widescreen</PresentationFormat>
  <Paragraphs>621</Paragraphs>
  <Slides>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51</vt:i4>
      </vt:variant>
    </vt:vector>
  </HeadingPairs>
  <TitlesOfParts>
    <vt:vector size="65" baseType="lpstr">
      <vt:lpstr>Arial Unicode MS</vt:lpstr>
      <vt:lpstr>Arial</vt:lpstr>
      <vt:lpstr>Arial Narrow</vt:lpstr>
      <vt:lpstr>Bookman Old Style</vt:lpstr>
      <vt:lpstr>Calibri</vt:lpstr>
      <vt:lpstr>Calibri Light</vt:lpstr>
      <vt:lpstr>Cascadia Mono</vt:lpstr>
      <vt:lpstr>Century Gothic</vt:lpstr>
      <vt:lpstr>Segoe UI</vt:lpstr>
      <vt:lpstr>Times New Roman</vt:lpstr>
      <vt:lpstr>Wingdings</vt:lpstr>
      <vt:lpstr>Presentation level design</vt:lpstr>
      <vt:lpstr>Custom Design</vt:lpstr>
      <vt:lpstr>1_Presentation level design</vt:lpstr>
      <vt:lpstr>PowerPoint Presentation</vt:lpstr>
      <vt:lpstr>Outline</vt:lpstr>
      <vt:lpstr>Data Types in C#</vt:lpstr>
      <vt:lpstr>Value vs Reference Types C#?</vt:lpstr>
      <vt:lpstr>Value vs Reference Types C#?</vt:lpstr>
      <vt:lpstr>Variables and Rules</vt:lpstr>
      <vt:lpstr>Operators</vt:lpstr>
      <vt:lpstr>Conditional Statements</vt:lpstr>
      <vt:lpstr>Conditional Statements</vt:lpstr>
      <vt:lpstr>Loops</vt:lpstr>
      <vt:lpstr>C# Arrays</vt:lpstr>
      <vt:lpstr>C# Arrays</vt:lpstr>
      <vt:lpstr>Common Array Utility Methods</vt:lpstr>
      <vt:lpstr>C# Array Methods</vt:lpstr>
      <vt:lpstr>Strings</vt:lpstr>
      <vt:lpstr>Functions</vt:lpstr>
      <vt:lpstr>Methods (Functions)</vt:lpstr>
      <vt:lpstr>Functions</vt:lpstr>
      <vt:lpstr>Functions: Types of Functions</vt:lpstr>
      <vt:lpstr>Functions: Types of Functions</vt:lpstr>
      <vt:lpstr>Functions: Types of Functions</vt:lpstr>
      <vt:lpstr>What is OOP?</vt:lpstr>
      <vt:lpstr>Class and Object</vt:lpstr>
      <vt:lpstr>Class Structure</vt:lpstr>
      <vt:lpstr>Creating and Using Objects</vt:lpstr>
      <vt:lpstr>Encapsulation</vt:lpstr>
      <vt:lpstr>Encapsulation</vt:lpstr>
      <vt:lpstr>Why Encapsulation?</vt:lpstr>
      <vt:lpstr>Constructors</vt:lpstr>
      <vt:lpstr>Parameterized Constructor</vt:lpstr>
      <vt:lpstr>Method in Class</vt:lpstr>
      <vt:lpstr>OOP: Inheritance</vt:lpstr>
      <vt:lpstr>Inheritance</vt:lpstr>
      <vt:lpstr>Using Inheritance</vt:lpstr>
      <vt:lpstr>Polymorphism</vt:lpstr>
      <vt:lpstr>Static Polymorphism (Method Overloading)</vt:lpstr>
      <vt:lpstr>Dynamic Polymorphism (Method Overriding)</vt:lpstr>
      <vt:lpstr>Dynamic Polymorphism (Method Overriding)</vt:lpstr>
      <vt:lpstr>Abstract Classes and Methods</vt:lpstr>
      <vt:lpstr>Abstract Classes and Methods</vt:lpstr>
      <vt:lpstr>Delegate Definition</vt:lpstr>
      <vt:lpstr>How to Use Delegates</vt:lpstr>
      <vt:lpstr>Delegate example</vt:lpstr>
      <vt:lpstr>Example</vt:lpstr>
      <vt:lpstr>Events</vt:lpstr>
      <vt:lpstr>Even example</vt:lpstr>
      <vt:lpstr>Namespaces</vt:lpstr>
      <vt:lpstr>Namespaces</vt:lpstr>
      <vt:lpstr>Library</vt:lpstr>
      <vt:lpstr>Creating and Using a Library</vt:lpstr>
      <vt:lpstr>Thank You!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keywords/>
  <cp:lastModifiedBy/>
  <cp:revision>3</cp:revision>
  <dcterms:created xsi:type="dcterms:W3CDTF">2016-11-02T13:30:00Z</dcterms:created>
  <dcterms:modified xsi:type="dcterms:W3CDTF">2026-03-23T09:58:54Z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TC034605409991</vt:lpwstr>
  </property>
</Properties>
</file>